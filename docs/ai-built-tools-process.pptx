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導入" id="{7aa4da58-d2fb-b780-278f-2f0d0f3d5637}">
          <p14:sldIdLst>
            <p14:sldId id="256"/>
            <p14:sldId id="257"/>
          </p14:sldIdLst>
        </p14:section>
        <p14:section name="工程" id="{1f29aff3-4ce0-67bf-e0f7-dccd1ecb27b5}">
          <p14:sldIdLst>
            <p14:sldId id="258"/>
            <p14:sldId id="259"/>
            <p14:sldId id="260"/>
            <p14:sldId id="261"/>
            <p14:sldId id="262"/>
          </p14:sldIdLst>
        </p14:section>
        <p14:section name="結果" id="{3cb6d174-2361-a0e1-4874-ae81545120d3}">
          <p14:sldIdLst>
            <p14:sldId id="263"/>
            <p14:sldId id="264"/>
          </p14:sldIdLst>
        </p14:section>
        <p14:section name="まとめ" id="{10b2a5df-ba97-6af7-77a7-68993449cd44}">
          <p14:sldIdLst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0E3B43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0E3B43"/>
                </a:solidFill>
                <a:latin typeface="+mn-lt"/>
              </a:rPr>
              <a:t>同じモデル(3B)・同じコードでの比較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脆弱版を検出(11 種類中)</c:v>
                </c:pt>
              </c:strCache>
            </c:strRef>
          </c:tx>
          <c:spPr>
            <a:solidFill>
              <a:srgbClr val="0B7A7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2B3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ルールだけ</c:v>
                  </c:pt>
                  <c:pt idx="1">
                    <c:v>AI あり 1 回目</c:v>
                  </c:pt>
                  <c:pt idx="2">
                    <c:v>AI あり 2 回目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6</c:v>
                </c:pt>
                <c:pt idx="2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修正版の誤検知</c:v>
                </c:pt>
              </c:strCache>
            </c:strRef>
          </c:tx>
          <c:spPr>
            <a:solidFill>
              <a:srgbClr val="E8A3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2B3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ルールだけ</c:v>
                  </c:pt>
                  <c:pt idx="1">
                    <c:v>AI あり 1 回目</c:v>
                  </c:pt>
                  <c:pt idx="2">
                    <c:v>AI あり 2 回目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</c:v>
                </c:pt>
                <c:pt idx="1">
                  <c:v>1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2B3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B2B3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"/>
          <c:min val="0"/>
        </c:scaling>
        <c:delete val="0"/>
        <c:axPos val="l"/>
        <c:majorGridlines>
          <c:spPr>
            <a:ln w="6350" cap="flat">
              <a:solidFill>
                <a:srgbClr val="D5E3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7C8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1B2B34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このリポジトリを、AI(Claude Code)と一緒に作ってきた工程の記録です。何を作ったかより、どう確かめたかを中心に話します。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結論を先に言います。この 3 つが、今日の作業で一番効いたことです。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特に大事なのは 4 番の『動かす』です。琥珀色にしてあります。ここで見つかる不具合が一番多かったためです。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クラウドからは OSV や GitHub の API に届きません。そこで、モックで確かめたあと、PC か Actions で実通信を確かめる 2 段構えにしました。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このセッションの作業の大部分は、クラウドの Ubuntu の作業環境で行いました。apt で dotnet を入れ、uv・poetry・go と合わせて、本物のロックファイルを作れました。一方、外部 API には届かないので、通信を拒否されたときの動作(終了コード 2)を、わざと確認しました。pkill -f が自分のシェルを止めた、import os の抜けに気づいた、といった不具合も、ここで見つかりました。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つの道具が、実通信で見つかった問題を直しながら育っていった例です。22 件が実は 11 件だった、という発見は、PC で動かして初めて分かりました。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手で作った『それらしいファイル』では見つからない問題が、本物のファイルでは見つかりました。例えば .csproj の [3.1.1] の読み方です。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どれも、コードを読むだけでは気づきにくいものでした。動かして、出力を見て、初めて分かりました。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同じモデル、同じコードで、2 回実行しました。結果が変わっています。打ち消されたのは、/file のパストラバーサルです。1 回の結果で、AI を使うほうが良いとは言えません。5 回の実行は、集計中です。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モックは両方の仕事です。『本物なしで確かめたい』という発想は人の問いから出て、具体的なコードは AI が書くことが多いです。ただし、AI が作る主役でも、実機での確認と、マージ・公開の判断は、人が持ちます。今日も、PowerShell 用のコマンドを WSL に貼ってしまう場面や、ポートの衝突など、PC でしか分からないことがありました。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今日も、PowerShell 用のコマンドを WSL に貼ってしまう場面がありました。どこで実行するかを、毎回明記してもらうと、防げます。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公開するときは、この 4 点を確認します。残りの作業は、docs/remaining-tasks.ja.md に、まとめてあります。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731520" y="2011680"/>
            <a:ext cx="768096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31520" y="411480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AI と作る検証ツールの工程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31520" y="2011680"/>
            <a:ext cx="7680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AI と一緒に、検証用の道具を作った工程</a:t>
            </a:r>
            <a:endParaRPr lang="en-US" sz="44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31520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Claude Code で、脆弱性チェックの道具を作り、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実通信で確かめるまで</a:t>
            </a:r>
            <a:endParaRPr lang="en-US" sz="20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2026 年 10 月 30〜31 日</a:t>
            </a:r>
            <a:endParaRPr lang="en-US" sz="2000" dirty="0"/>
          </a:p>
        </p:txBody>
      </p:sp>
      <p:sp>
        <p:nvSpPr>
          <p:cNvPr id="4" name="飾りの円"/>
          <p:cNvSpPr/>
          <p:nvPr/>
        </p:nvSpPr>
        <p:spPr>
          <a:xfrm>
            <a:off x="9052560" y="1554480"/>
            <a:ext cx="2743200" cy="2743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ブランチのアイコン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0" y="2331720"/>
            <a:ext cx="1188720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この資料の要点</a:t>
            </a:r>
            <a:endParaRPr lang="en-US" sz="3400" dirty="0"/>
          </a:p>
        </p:txBody>
      </p:sp>
      <p:sp>
        <p:nvSpPr>
          <p:cNvPr id="3" name="要点のカード 1"/>
          <p:cNvSpPr/>
          <p:nvPr/>
        </p:nvSpPr>
        <p:spPr>
          <a:xfrm>
            <a:off x="548640" y="1554480"/>
            <a:ext cx="3566160" cy="40233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4" name="動かして確かめる 円"/>
          <p:cNvSpPr/>
          <p:nvPr/>
        </p:nvSpPr>
        <p:spPr>
          <a:xfrm>
            <a:off x="868680" y="187452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動かして確かめる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" y="208026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926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動かして確かめる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97764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読むだけでは気づかない不具合が、実行して初めて見つかった(実例 8 件)</a:t>
            </a:r>
            <a:endParaRPr lang="en-US" sz="1800" dirty="0"/>
          </a:p>
        </p:txBody>
      </p:sp>
      <p:sp>
        <p:nvSpPr>
          <p:cNvPr id="8" name="要点のカード 2"/>
          <p:cNvSpPr/>
          <p:nvPr/>
        </p:nvSpPr>
        <p:spPr>
          <a:xfrm>
            <a:off x="4297680" y="1554480"/>
            <a:ext cx="3566160" cy="40233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9" name="確認できたことと、未確認を分ける 円"/>
          <p:cNvSpPr/>
          <p:nvPr/>
        </p:nvSpPr>
        <p:spPr>
          <a:xfrm>
            <a:off x="4617720" y="187452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確認できたことと、未確認を分ける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3460" y="208026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17720" y="2926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確認できたことと、未確認を分ける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4617720" y="397764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ノートにも PR にも、2 つを必ず分けて残す。推測を事実として書かない</a:t>
            </a:r>
            <a:endParaRPr lang="en-US" sz="1800" dirty="0"/>
          </a:p>
        </p:txBody>
      </p:sp>
      <p:sp>
        <p:nvSpPr>
          <p:cNvPr id="13" name="要点のカード 3"/>
          <p:cNvSpPr/>
          <p:nvPr/>
        </p:nvSpPr>
        <p:spPr>
          <a:xfrm>
            <a:off x="8046720" y="1554480"/>
            <a:ext cx="3566160" cy="40233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14" name="AI の出力も変わる 円"/>
          <p:cNvSpPr/>
          <p:nvPr/>
        </p:nvSpPr>
        <p:spPr>
          <a:xfrm>
            <a:off x="8366760" y="187452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2" descr="AI の出力も変わる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0" y="2080260"/>
            <a:ext cx="411480" cy="4114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66760" y="2926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 の出力も変わる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8366760" y="397764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同じ条件で、結果が変わった。1 回で優劣を決めず、複数回の分布を見る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1 つの機能ができるまで</a:t>
            </a:r>
            <a:endParaRPr lang="en-US" sz="3400" dirty="0"/>
          </a:p>
        </p:txBody>
      </p:sp>
      <p:sp>
        <p:nvSpPr>
          <p:cNvPr id="3" name="手順のカード 1"/>
          <p:cNvSpPr/>
          <p:nvPr/>
        </p:nvSpPr>
        <p:spPr>
          <a:xfrm>
            <a:off x="548640" y="1554480"/>
            <a:ext cx="262432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4" name="番号の円 1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688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目的を決める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9260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目的は、1 文で書く</a:t>
            </a:r>
            <a:endParaRPr lang="en-US" sz="1400" dirty="0"/>
          </a:p>
        </p:txBody>
      </p:sp>
      <p:sp>
        <p:nvSpPr>
          <p:cNvPr id="8" name="手順のカード 2"/>
          <p:cNvSpPr/>
          <p:nvPr/>
        </p:nvSpPr>
        <p:spPr>
          <a:xfrm>
            <a:off x="3355848" y="1554480"/>
            <a:ext cx="262432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9" name="番号の円 2"/>
          <p:cNvSpPr/>
          <p:nvPr/>
        </p:nvSpPr>
        <p:spPr>
          <a:xfrm>
            <a:off x="3584448" y="17830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58444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584448" y="24688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調べる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584448" y="29260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資料を読む。推測しない</a:t>
            </a:r>
            <a:endParaRPr lang="en-US" sz="1400" dirty="0"/>
          </a:p>
        </p:txBody>
      </p:sp>
      <p:sp>
        <p:nvSpPr>
          <p:cNvPr id="13" name="手順のカード 3"/>
          <p:cNvSpPr/>
          <p:nvPr/>
        </p:nvSpPr>
        <p:spPr>
          <a:xfrm>
            <a:off x="6163056" y="1554480"/>
            <a:ext cx="262432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4" name="番号の円 3"/>
          <p:cNvSpPr/>
          <p:nvPr/>
        </p:nvSpPr>
        <p:spPr>
          <a:xfrm>
            <a:off x="6391656" y="17830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91656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391656" y="24688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小さく作る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391656" y="29260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最小のスクリプトから</a:t>
            </a:r>
            <a:endParaRPr lang="en-US" sz="1400" dirty="0"/>
          </a:p>
        </p:txBody>
      </p:sp>
      <p:sp>
        <p:nvSpPr>
          <p:cNvPr id="18" name="手順のカード 4"/>
          <p:cNvSpPr/>
          <p:nvPr/>
        </p:nvSpPr>
        <p:spPr>
          <a:xfrm>
            <a:off x="8970264" y="1554480"/>
            <a:ext cx="262432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9" name="番号の円 4"/>
          <p:cNvSpPr/>
          <p:nvPr/>
        </p:nvSpPr>
        <p:spPr>
          <a:xfrm>
            <a:off x="9198864" y="178308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9886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198864" y="24688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動かす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9198864" y="29260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モック、次に実通信</a:t>
            </a:r>
            <a:endParaRPr lang="en-US" sz="1400" dirty="0"/>
          </a:p>
        </p:txBody>
      </p:sp>
      <p:sp>
        <p:nvSpPr>
          <p:cNvPr id="23" name="手順のカード 5"/>
          <p:cNvSpPr/>
          <p:nvPr/>
        </p:nvSpPr>
        <p:spPr>
          <a:xfrm>
            <a:off x="548640" y="3931920"/>
            <a:ext cx="262432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24" name="番号の円 5"/>
          <p:cNvSpPr/>
          <p:nvPr/>
        </p:nvSpPr>
        <p:spPr>
          <a:xfrm>
            <a:off x="777240" y="41605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7724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4846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不具合を直す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5303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出力の食い違いが手がかり</a:t>
            </a:r>
            <a:endParaRPr lang="en-US" sz="1400" dirty="0"/>
          </a:p>
        </p:txBody>
      </p:sp>
      <p:sp>
        <p:nvSpPr>
          <p:cNvPr id="28" name="手順のカード 6"/>
          <p:cNvSpPr/>
          <p:nvPr/>
        </p:nvSpPr>
        <p:spPr>
          <a:xfrm>
            <a:off x="3355848" y="3931920"/>
            <a:ext cx="262432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29" name="番号の円 6"/>
          <p:cNvSpPr/>
          <p:nvPr/>
        </p:nvSpPr>
        <p:spPr>
          <a:xfrm>
            <a:off x="3584448" y="41605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584448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3584448" y="4846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記録する</a:t>
            </a:r>
            <a:endParaRPr lang="en-US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3584448" y="5303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確認済みと未確認を分ける</a:t>
            </a:r>
            <a:endParaRPr lang="en-US" sz="1400" dirty="0"/>
          </a:p>
        </p:txBody>
      </p:sp>
      <p:sp>
        <p:nvSpPr>
          <p:cNvPr id="33" name="手順のカード 7"/>
          <p:cNvSpPr/>
          <p:nvPr/>
        </p:nvSpPr>
        <p:spPr>
          <a:xfrm>
            <a:off x="6163056" y="3931920"/>
            <a:ext cx="262432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34" name="番号の円 7"/>
          <p:cNvSpPr/>
          <p:nvPr/>
        </p:nvSpPr>
        <p:spPr>
          <a:xfrm>
            <a:off x="6391656" y="41605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391656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6391656" y="4846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 にする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6391656" y="5303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確認内容を説明に書く</a:t>
            </a:r>
            <a:endParaRPr lang="en-US" sz="1400" dirty="0"/>
          </a:p>
        </p:txBody>
      </p:sp>
      <p:sp>
        <p:nvSpPr>
          <p:cNvPr id="38" name="手順のカード 8"/>
          <p:cNvSpPr/>
          <p:nvPr/>
        </p:nvSpPr>
        <p:spPr>
          <a:xfrm>
            <a:off x="8970264" y="3931920"/>
            <a:ext cx="262432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39" name="番号の円 8"/>
          <p:cNvSpPr/>
          <p:nvPr/>
        </p:nvSpPr>
        <p:spPr>
          <a:xfrm>
            <a:off x="9198864" y="41605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198864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800" dirty="0"/>
          </a:p>
        </p:txBody>
      </p:sp>
      <p:sp>
        <p:nvSpPr>
          <p:cNvPr id="41" name="Text 39"/>
          <p:cNvSpPr txBox="1"/>
          <p:nvPr/>
        </p:nvSpPr>
        <p:spPr>
          <a:xfrm>
            <a:off x="9198864" y="4846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CI で再確認</a:t>
            </a:r>
            <a:endParaRPr lang="en-US" sz="2000" dirty="0"/>
          </a:p>
        </p:txBody>
      </p:sp>
      <p:sp>
        <p:nvSpPr>
          <p:cNvPr id="42" name="Text 40"/>
          <p:cNvSpPr txBox="1"/>
          <p:nvPr/>
        </p:nvSpPr>
        <p:spPr>
          <a:xfrm>
            <a:off x="9198864" y="5303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自動で動かし、再確認する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どこで確かめるか</a:t>
            </a:r>
            <a:endParaRPr lang="en-US" sz="3400" dirty="0"/>
          </a:p>
        </p:txBody>
      </p:sp>
      <p:sp>
        <p:nvSpPr>
          <p:cNvPr id="3" name="確認の場所 1"/>
          <p:cNvSpPr/>
          <p:nvPr/>
        </p:nvSpPr>
        <p:spPr>
          <a:xfrm>
            <a:off x="548640" y="1463040"/>
            <a:ext cx="3566160" cy="38404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4" name="クラウドの作業環境 円"/>
          <p:cNvSpPr/>
          <p:nvPr/>
        </p:nvSpPr>
        <p:spPr>
          <a:xfrm>
            <a:off x="868680" y="17373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クラウドの作業環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92024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17373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クラウドの作業環境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7889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得意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108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実装、モックのテスト、実物のファイルの生成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1605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苦手・できない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44805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外部 API は許可制。LLM にも届かない</a:t>
            </a:r>
            <a:endParaRPr lang="en-US" sz="1400" dirty="0"/>
          </a:p>
        </p:txBody>
      </p:sp>
      <p:sp>
        <p:nvSpPr>
          <p:cNvPr id="11" name="確認の場所 2"/>
          <p:cNvSpPr/>
          <p:nvPr/>
        </p:nvSpPr>
        <p:spPr>
          <a:xfrm>
            <a:off x="4297680" y="1463040"/>
            <a:ext cx="3566160" cy="38404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12" name="手元の PC 円"/>
          <p:cNvSpPr/>
          <p:nvPr/>
        </p:nvSpPr>
        <p:spPr>
          <a:xfrm>
            <a:off x="4617720" y="17373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1" descr="手元の PC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92024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532120" y="17373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手元の PC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4617720" y="27889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得意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4617720" y="3108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実通信(OSV、GitHub)、Ollama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4617720" y="41605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苦手・できない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4617720" y="44805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手作業が要る</a:t>
            </a:r>
            <a:endParaRPr lang="en-US" sz="1400" dirty="0"/>
          </a:p>
        </p:txBody>
      </p:sp>
      <p:sp>
        <p:nvSpPr>
          <p:cNvPr id="19" name="確認の場所 3"/>
          <p:cNvSpPr/>
          <p:nvPr/>
        </p:nvSpPr>
        <p:spPr>
          <a:xfrm>
            <a:off x="8046720" y="1463040"/>
            <a:ext cx="3566160" cy="38404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20" name="GitHub Actions 円"/>
          <p:cNvSpPr/>
          <p:nvPr/>
        </p:nvSpPr>
        <p:spPr>
          <a:xfrm>
            <a:off x="8366760" y="17373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mage 2" descr="GitHub Action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1920240"/>
            <a:ext cx="365760" cy="36576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9281160" y="17373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GitHub Actions</a:t>
            </a:r>
            <a:endParaRPr lang="en-US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8366760" y="27889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得意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8366760" y="3108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外に出られる。PR で自動実行</a:t>
            </a:r>
            <a:endParaRPr lang="en-US" sz="1400" dirty="0"/>
          </a:p>
        </p:txBody>
      </p:sp>
      <p:sp>
        <p:nvSpPr>
          <p:cNvPr id="25" name="Text 20"/>
          <p:cNvSpPr txBox="1"/>
          <p:nvPr/>
        </p:nvSpPr>
        <p:spPr>
          <a:xfrm>
            <a:off x="8366760" y="41605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苦手・できない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8366760" y="44805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GPU がなく、小さなモデルだけ</a:t>
            </a:r>
            <a:endParaRPr lang="en-US" sz="1400" dirty="0"/>
          </a:p>
        </p:txBody>
      </p:sp>
      <p:sp>
        <p:nvSpPr>
          <p:cNvPr id="27" name="注意の帯"/>
          <p:cNvSpPr/>
          <p:nvPr/>
        </p:nvSpPr>
        <p:spPr>
          <a:xfrm>
            <a:off x="548640" y="5486400"/>
            <a:ext cx="11064240" cy="640080"/>
          </a:xfrm>
          <a:prstGeom prst="roundRect">
            <a:avLst>
              <a:gd name="adj" fmla="val 17143"/>
            </a:avLst>
          </a:prstGeom>
          <a:solidFill>
            <a:schemeClr val="accent2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822960" y="54864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モックで確かめたことと、実通信で確かめたことは、分けて記録する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クラウドの作業環境(Ubuntu)での検証</a:t>
            </a:r>
            <a:endParaRPr lang="en-US" sz="3400" dirty="0"/>
          </a:p>
        </p:txBody>
      </p:sp>
      <p:sp>
        <p:nvSpPr>
          <p:cNvPr id="3" name="できたことのカード"/>
          <p:cNvSpPr/>
          <p:nvPr/>
        </p:nvSpPr>
        <p:spPr>
          <a:xfrm>
            <a:off x="548640" y="1463040"/>
            <a:ext cx="6949440" cy="4572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69164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ここで、実際にやったこと</a:t>
            </a:r>
            <a:endParaRPr lang="en-US" sz="2000" dirty="0"/>
          </a:p>
        </p:txBody>
      </p:sp>
      <p:sp>
        <p:nvSpPr>
          <p:cNvPr id="5" name="できたこと 1 円"/>
          <p:cNvSpPr/>
          <p:nvPr/>
        </p:nvSpPr>
        <p:spPr>
          <a:xfrm>
            <a:off x="868680" y="23774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できたこと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491740"/>
            <a:ext cx="228600" cy="228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2331720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実物のロックファイルを生成(uv・poetry・go・dotnet)</a:t>
            </a:r>
            <a:endParaRPr lang="en-US" sz="1600" dirty="0"/>
          </a:p>
        </p:txBody>
      </p:sp>
      <p:sp>
        <p:nvSpPr>
          <p:cNvPr id="8" name="できたこと 2 円"/>
          <p:cNvSpPr/>
          <p:nvPr/>
        </p:nvSpPr>
        <p:spPr>
          <a:xfrm>
            <a:off x="868680" y="31089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mage 1" descr="できたこと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" y="3223260"/>
            <a:ext cx="228600" cy="228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3063240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他人のコードを読んでから、隔離して実行(ルールのみ)</a:t>
            </a:r>
            <a:endParaRPr lang="en-US" sz="1600" dirty="0"/>
          </a:p>
        </p:txBody>
      </p:sp>
      <p:sp>
        <p:nvSpPr>
          <p:cNvPr id="11" name="できたこと 3 円"/>
          <p:cNvSpPr/>
          <p:nvPr/>
        </p:nvSpPr>
        <p:spPr>
          <a:xfrm>
            <a:off x="868680" y="38404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mage 2" descr="できたこと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" y="3954780"/>
            <a:ext cx="228600" cy="2286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554480" y="3794760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ラボの回帰テスト 22 パターン(ポートを変えても)</a:t>
            </a:r>
            <a:endParaRPr lang="en-US" sz="1600" dirty="0"/>
          </a:p>
        </p:txBody>
      </p:sp>
      <p:sp>
        <p:nvSpPr>
          <p:cNvPr id="14" name="できたこと 4 円"/>
          <p:cNvSpPr/>
          <p:nvPr/>
        </p:nvSpPr>
        <p:spPr>
          <a:xfrm>
            <a:off x="868680" y="45720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3" descr="できたこと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" y="468630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554480" y="4526280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通信を拒否した状態で、終了コード 2 を確認</a:t>
            </a:r>
            <a:endParaRPr lang="en-US" sz="1600" dirty="0"/>
          </a:p>
        </p:txBody>
      </p:sp>
      <p:sp>
        <p:nvSpPr>
          <p:cNvPr id="17" name="できたこと 5 円"/>
          <p:cNvSpPr/>
          <p:nvPr/>
        </p:nvSpPr>
        <p:spPr>
          <a:xfrm>
            <a:off x="868680" y="53035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age 4" descr="できたこと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980" y="5417820"/>
            <a:ext cx="228600" cy="2286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554480" y="5257800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ワークフローのシェルを、3 通りで実行</a:t>
            </a:r>
            <a:endParaRPr lang="en-US" sz="1600" dirty="0"/>
          </a:p>
        </p:txBody>
      </p:sp>
      <p:sp>
        <p:nvSpPr>
          <p:cNvPr id="20" name="制約のカード"/>
          <p:cNvSpPr/>
          <p:nvPr/>
        </p:nvSpPr>
        <p:spPr>
          <a:xfrm>
            <a:off x="7772400" y="1463040"/>
            <a:ext cx="3840480" cy="457200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</p:spPr>
      </p:sp>
      <p:sp>
        <p:nvSpPr>
          <p:cNvPr id="21" name="制約 円"/>
          <p:cNvSpPr/>
          <p:nvPr/>
        </p:nvSpPr>
        <p:spPr>
          <a:xfrm>
            <a:off x="8092440" y="169164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2" name="Image 5" descr="制約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2460" y="1851660"/>
            <a:ext cx="320040" cy="32004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8915400" y="16916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分かった制約</a:t>
            </a:r>
            <a:endParaRPr lang="en-US" sz="2000" dirty="0"/>
          </a:p>
        </p:txBody>
      </p:sp>
      <p:sp>
        <p:nvSpPr>
          <p:cNvPr id="24" name="Text 16"/>
          <p:cNvSpPr txBox="1"/>
          <p:nvPr/>
        </p:nvSpPr>
        <p:spPr>
          <a:xfrm>
            <a:off x="8092440" y="2651760"/>
            <a:ext cx="32004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OSV と GitHub の API は許可制(403)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LLM(Ollama)にも届かない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だから、実通信は PC と Actions で確認する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例: dep_cve_check.py の成長</a:t>
            </a:r>
            <a:endParaRPr lang="en-US" sz="3400" dirty="0"/>
          </a:p>
        </p:txBody>
      </p:sp>
      <p:sp>
        <p:nvSpPr>
          <p:cNvPr id="3" name="段階の円 1"/>
          <p:cNvSpPr/>
          <p:nvPr/>
        </p:nvSpPr>
        <p:spPr>
          <a:xfrm>
            <a:off x="548640" y="158191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81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5087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試作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3931920" y="15087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OSV に問い合わせて、SARIF を出す</a:t>
            </a:r>
            <a:endParaRPr lang="en-US" sz="1400" dirty="0"/>
          </a:p>
        </p:txBody>
      </p:sp>
      <p:sp>
        <p:nvSpPr>
          <p:cNvPr id="7" name="段階の円 2"/>
          <p:cNvSpPr/>
          <p:nvPr/>
        </p:nvSpPr>
        <p:spPr>
          <a:xfrm>
            <a:off x="548640" y="235915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3591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2860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実通信で検証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931920" y="22860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古い版を渡して、22 件が出た</a:t>
            </a:r>
            <a:endParaRPr lang="en-US" sz="1400" dirty="0"/>
          </a:p>
        </p:txBody>
      </p:sp>
      <p:sp>
        <p:nvSpPr>
          <p:cNvPr id="11" name="段階の円 3"/>
          <p:cNvSpPr/>
          <p:nvPr/>
        </p:nvSpPr>
        <p:spPr>
          <a:xfrm>
            <a:off x="548640" y="313639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1363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0632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CVE 単位にまとめる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931920" y="30632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 CVE が 2 回数えられていた</a:t>
            </a:r>
            <a:endParaRPr lang="en-US" sz="1400" dirty="0"/>
          </a:p>
        </p:txBody>
      </p:sp>
      <p:sp>
        <p:nvSpPr>
          <p:cNvPr id="15" name="段階の円 4"/>
          <p:cNvSpPr/>
          <p:nvPr/>
        </p:nvSpPr>
        <p:spPr>
          <a:xfrm>
            <a:off x="548640" y="391363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13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38404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対応を広げる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3931920" y="38404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NuGet・poetry・uv・Go(実物で確認)</a:t>
            </a:r>
            <a:endParaRPr lang="en-US" sz="1400" dirty="0"/>
          </a:p>
        </p:txBody>
      </p:sp>
      <p:sp>
        <p:nvSpPr>
          <p:cNvPr id="19" name="段階の円 5"/>
          <p:cNvSpPr/>
          <p:nvPr/>
        </p:nvSpPr>
        <p:spPr>
          <a:xfrm>
            <a:off x="548640" y="469087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6908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46177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CI に組み込む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3931920" y="46177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自動で探して照合し、要約にも表示</a:t>
            </a:r>
            <a:endParaRPr lang="en-US" sz="1400" dirty="0"/>
          </a:p>
        </p:txBody>
      </p:sp>
      <p:sp>
        <p:nvSpPr>
          <p:cNvPr id="23" name="段階の円 6"/>
          <p:cNvSpPr/>
          <p:nvPr/>
        </p:nvSpPr>
        <p:spPr>
          <a:xfrm>
            <a:off x="548640" y="546811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" y="54681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280160" y="53949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GHSA と突き合わせる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3931920" y="53949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実データで、16 件中 14 件が一致</a:t>
            </a:r>
            <a:endParaRPr lang="en-US" sz="1400" dirty="0"/>
          </a:p>
        </p:txBody>
      </p:sp>
      <p:sp>
        <p:nvSpPr>
          <p:cNvPr id="27" name="数字のカード 1"/>
          <p:cNvSpPr/>
          <p:nvPr/>
        </p:nvSpPr>
        <p:spPr>
          <a:xfrm>
            <a:off x="7863840" y="1554480"/>
            <a:ext cx="37490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138160" y="182880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 → 11</a:t>
            </a:r>
            <a:endParaRPr lang="en-US" sz="4800" dirty="0"/>
          </a:p>
        </p:txBody>
      </p:sp>
      <p:sp>
        <p:nvSpPr>
          <p:cNvPr id="29" name="Text 27"/>
          <p:cNvSpPr txBox="1"/>
          <p:nvPr/>
        </p:nvSpPr>
        <p:spPr>
          <a:xfrm>
            <a:off x="8138160" y="28803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CVE の重複を解消(件数)</a:t>
            </a:r>
            <a:endParaRPr lang="en-US" sz="1400" dirty="0"/>
          </a:p>
        </p:txBody>
      </p:sp>
      <p:sp>
        <p:nvSpPr>
          <p:cNvPr id="30" name="数字のカード 2"/>
          <p:cNvSpPr/>
          <p:nvPr/>
        </p:nvSpPr>
        <p:spPr>
          <a:xfrm>
            <a:off x="7863840" y="3886200"/>
            <a:ext cx="37490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138160" y="416052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 / 16</a:t>
            </a:r>
            <a:endParaRPr lang="en-US" sz="4800" dirty="0"/>
          </a:p>
        </p:txBody>
      </p:sp>
      <p:sp>
        <p:nvSpPr>
          <p:cNvPr id="32" name="Text 30"/>
          <p:cNvSpPr txBox="1"/>
          <p:nvPr/>
        </p:nvSpPr>
        <p:spPr>
          <a:xfrm>
            <a:off x="8138160" y="52120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OSV と GHSA の修正版が一致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テストの方法</a:t>
            </a:r>
            <a:endParaRPr lang="en-US" sz="3400" dirty="0"/>
          </a:p>
        </p:txBody>
      </p:sp>
      <p:sp>
        <p:nvSpPr>
          <p:cNvPr id="3" name="テストのカード 1"/>
          <p:cNvSpPr/>
          <p:nvPr/>
        </p:nvSpPr>
        <p:spPr>
          <a:xfrm>
            <a:off x="548640" y="1463040"/>
            <a:ext cx="35661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モック 円"/>
          <p:cNvSpPr/>
          <p:nvPr/>
        </p:nvSpPr>
        <p:spPr>
          <a:xfrm>
            <a:off x="822960" y="17373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モック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" y="1908810"/>
            <a:ext cx="342900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737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モック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65176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外部通信を差し替えて確認</a:t>
            </a:r>
            <a:endParaRPr lang="en-US" sz="1400" dirty="0"/>
          </a:p>
        </p:txBody>
      </p:sp>
      <p:sp>
        <p:nvSpPr>
          <p:cNvPr id="8" name="テストのカード 2"/>
          <p:cNvSpPr/>
          <p:nvPr/>
        </p:nvSpPr>
        <p:spPr>
          <a:xfrm>
            <a:off x="4297680" y="1463040"/>
            <a:ext cx="35661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正解つきの的 円"/>
          <p:cNvSpPr/>
          <p:nvPr/>
        </p:nvSpPr>
        <p:spPr>
          <a:xfrm>
            <a:off x="4572000" y="17373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正解つきの的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3450" y="1908810"/>
            <a:ext cx="342900" cy="3429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0680" y="1737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正解つきの的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265176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 種類を、脆弱版と修正版で比較</a:t>
            </a:r>
            <a:endParaRPr lang="en-US" sz="1400" dirty="0"/>
          </a:p>
        </p:txBody>
      </p:sp>
      <p:sp>
        <p:nvSpPr>
          <p:cNvPr id="13" name="テストのカード 3"/>
          <p:cNvSpPr/>
          <p:nvPr/>
        </p:nvSpPr>
        <p:spPr>
          <a:xfrm>
            <a:off x="8046720" y="1463040"/>
            <a:ext cx="35661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回帰テスト 円"/>
          <p:cNvSpPr/>
          <p:nvPr/>
        </p:nvSpPr>
        <p:spPr>
          <a:xfrm>
            <a:off x="8321040" y="17373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2" descr="回帰テスト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2490" y="1908810"/>
            <a:ext cx="342900" cy="3429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89720" y="1737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回帰テスト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265176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 22 パターンを CI で確認</a:t>
            </a:r>
            <a:endParaRPr lang="en-US" sz="1400" dirty="0"/>
          </a:p>
        </p:txBody>
      </p:sp>
      <p:sp>
        <p:nvSpPr>
          <p:cNvPr id="18" name="テストのカード 4"/>
          <p:cNvSpPr/>
          <p:nvPr/>
        </p:nvSpPr>
        <p:spPr>
          <a:xfrm>
            <a:off x="548640" y="3886200"/>
            <a:ext cx="35661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9" name="実ログのデータ 円"/>
          <p:cNvSpPr/>
          <p:nvPr/>
        </p:nvSpPr>
        <p:spPr>
          <a:xfrm>
            <a:off x="822960" y="41605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Image 3" descr="実ログのデータ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4410" y="4331970"/>
            <a:ext cx="342900" cy="3429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1640" y="41605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実ログのデータ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507492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Actions の出力で、数え方を確認</a:t>
            </a:r>
            <a:endParaRPr lang="en-US" sz="1400" dirty="0"/>
          </a:p>
        </p:txBody>
      </p:sp>
      <p:sp>
        <p:nvSpPr>
          <p:cNvPr id="23" name="テストのカード 5"/>
          <p:cNvSpPr/>
          <p:nvPr/>
        </p:nvSpPr>
        <p:spPr>
          <a:xfrm>
            <a:off x="4297680" y="3886200"/>
            <a:ext cx="35661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4" name="実物のファイル 円"/>
          <p:cNvSpPr/>
          <p:nvPr/>
        </p:nvSpPr>
        <p:spPr>
          <a:xfrm>
            <a:off x="4572000" y="41605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Image 4" descr="実物のファイル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3450" y="4331970"/>
            <a:ext cx="342900" cy="34290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440680" y="41605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実物のファイル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4572000" y="507492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uv・poetry・go・dotnet 製</a:t>
            </a:r>
            <a:endParaRPr lang="en-US" sz="1400" dirty="0"/>
          </a:p>
        </p:txBody>
      </p:sp>
      <p:sp>
        <p:nvSpPr>
          <p:cNvPr id="28" name="テストのカード 6"/>
          <p:cNvSpPr/>
          <p:nvPr/>
        </p:nvSpPr>
        <p:spPr>
          <a:xfrm>
            <a:off x="8046720" y="3886200"/>
            <a:ext cx="35661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9" name="ばらつきを測る 円"/>
          <p:cNvSpPr/>
          <p:nvPr/>
        </p:nvSpPr>
        <p:spPr>
          <a:xfrm>
            <a:off x="8321040" y="41605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Image 5" descr="ばらつきを測る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2490" y="4331970"/>
            <a:ext cx="342900" cy="34290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189720" y="41605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ばらつきを測る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8321040" y="507492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同じ条件で複数回、分布を見る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動かして初めて見つかった不具合</a:t>
            </a:r>
            <a:endParaRPr lang="en-US" sz="3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7589520"/>
                <a:gridCol w="34747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不具合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見つけ方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3B4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同じ CVE が 2 回数えられていた(22 件が実は 11 件)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PC での実通信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.csproj の [3.1.1](固定の意味)が、範囲として飛ばされた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dotnet の実物と比べた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import os の抜け(コンパイルは通る)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実行前の確認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終了コードが常に 0 になる書き方($? の誤用)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実データでの実行ログ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 の「誤検知」判定を、数えていなかった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ログと表の数字の食い違い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Windows のサービスと、ポートが衝突した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Address already in use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AI の出力は、毎回変わる</a:t>
            </a:r>
            <a:endParaRPr lang="en-US" sz="3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676656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気づきのカード"/>
          <p:cNvSpPr/>
          <p:nvPr/>
        </p:nvSpPr>
        <p:spPr>
          <a:xfrm>
            <a:off x="7589520" y="1371600"/>
            <a:ext cx="402336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818120" y="1554480"/>
            <a:ext cx="3566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回目は、AI が本物の脆弱性を「誤検知」と判定して、打ち消した</a:t>
            </a:r>
            <a:endParaRPr lang="en-US" sz="1800" dirty="0"/>
          </a:p>
        </p:txBody>
      </p:sp>
      <p:sp>
        <p:nvSpPr>
          <p:cNvPr id="6" name="教訓の帯"/>
          <p:cNvSpPr/>
          <p:nvPr/>
        </p:nvSpPr>
        <p:spPr>
          <a:xfrm>
            <a:off x="7589520" y="3611880"/>
            <a:ext cx="4023360" cy="1188720"/>
          </a:xfrm>
          <a:prstGeom prst="roundRect">
            <a:avLst>
              <a:gd name="adj" fmla="val 9231"/>
            </a:avLst>
          </a:prstGeom>
          <a:solidFill>
            <a:schemeClr val="accent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18120" y="361188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 の「誤検知」判定を、確認せずに捨てない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5029200"/>
            <a:ext cx="4023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つのモデル、1 つのアプリの結果。5 回の実行は集計中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人と AI の分担</a:t>
            </a:r>
            <a:endParaRPr lang="en-US" sz="3400" dirty="0"/>
          </a:p>
        </p:txBody>
      </p:sp>
      <p:sp>
        <p:nvSpPr>
          <p:cNvPr id="3" name="人(あなた) のカード"/>
          <p:cNvSpPr/>
          <p:nvPr/>
        </p:nvSpPr>
        <p:spPr>
          <a:xfrm>
            <a:off x="548640" y="1463040"/>
            <a:ext cx="539496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人(あなた) 円"/>
          <p:cNvSpPr/>
          <p:nvPr/>
        </p:nvSpPr>
        <p:spPr>
          <a:xfrm>
            <a:off x="914400" y="169164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Image 0" descr="人(あなた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8745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874520" y="169164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人(あなた)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6974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方向を決める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2971800" y="269748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目的と優先順位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3410712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現実で確かめる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2971800" y="3410712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PC で実行し、出力を貼る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4123944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判断する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2971800" y="4123944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マージ・公開の決定</a:t>
            </a:r>
            <a:endParaRPr lang="en-US" sz="1600" dirty="0"/>
          </a:p>
        </p:txBody>
      </p:sp>
      <p:sp>
        <p:nvSpPr>
          <p:cNvPr id="13" name="Claude(AI) のカード"/>
          <p:cNvSpPr/>
          <p:nvPr/>
        </p:nvSpPr>
        <p:spPr>
          <a:xfrm>
            <a:off x="6217920" y="1463040"/>
            <a:ext cx="539496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4" name="Claude(AI) 円"/>
          <p:cNvSpPr/>
          <p:nvPr/>
        </p:nvSpPr>
        <p:spPr>
          <a:xfrm>
            <a:off x="6583680" y="16916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1" descr="Claude(AI)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874520"/>
            <a:ext cx="365760" cy="36576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543800" y="169164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Claude(AI)</a:t>
            </a:r>
            <a:endParaRPr lang="en-US" sz="2400" dirty="0"/>
          </a:p>
        </p:txBody>
      </p:sp>
      <p:sp>
        <p:nvSpPr>
          <p:cNvPr id="17" name="Text 13"/>
          <p:cNvSpPr txBox="1"/>
          <p:nvPr/>
        </p:nvSpPr>
        <p:spPr>
          <a:xfrm>
            <a:off x="6583680" y="26974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調べる</a:t>
            </a:r>
            <a:endParaRPr lang="en-US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8641080" y="269748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コードと資料を読む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6583680" y="3410712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作る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8641080" y="3410712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実装・モック・テスト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6583680" y="4123944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記録する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8641080" y="4123944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ノート・PR・スライド</a:t>
            </a:r>
            <a:endParaRPr lang="en-US" sz="1600" dirty="0"/>
          </a:p>
        </p:txBody>
      </p:sp>
      <p:sp>
        <p:nvSpPr>
          <p:cNvPr id="23" name="要点の帯"/>
          <p:cNvSpPr/>
          <p:nvPr/>
        </p:nvSpPr>
        <p:spPr>
          <a:xfrm>
            <a:off x="548640" y="516636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accent2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822960" y="516636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人は、現実との接点(実機での確認・判断・責任)を持ち続ける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AI との進め方</a:t>
            </a:r>
            <a:endParaRPr lang="en-US" sz="3400" dirty="0"/>
          </a:p>
        </p:txBody>
      </p:sp>
      <p:sp>
        <p:nvSpPr>
          <p:cNvPr id="3" name="手順の円 1"/>
          <p:cNvSpPr/>
          <p:nvPr/>
        </p:nvSpPr>
        <p:spPr>
          <a:xfrm>
            <a:off x="548640" y="152704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27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46304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目的を伝える</a:t>
            </a:r>
            <a:endParaRPr lang="en-US" sz="1600" dirty="0"/>
          </a:p>
        </p:txBody>
      </p:sp>
      <p:sp>
        <p:nvSpPr>
          <p:cNvPr id="6" name="手順の円 2"/>
          <p:cNvSpPr/>
          <p:nvPr/>
        </p:nvSpPr>
        <p:spPr>
          <a:xfrm>
            <a:off x="548640" y="230428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3042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24028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 が、コードとドキュメントを読んで調べる</a:t>
            </a:r>
            <a:endParaRPr lang="en-US" sz="1600" dirty="0"/>
          </a:p>
        </p:txBody>
      </p:sp>
      <p:sp>
        <p:nvSpPr>
          <p:cNvPr id="9" name="手順の円 3"/>
          <p:cNvSpPr/>
          <p:nvPr/>
        </p:nvSpPr>
        <p:spPr>
          <a:xfrm>
            <a:off x="548640" y="308152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0815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301752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小さく実装して、作業環境で動かす</a:t>
            </a:r>
            <a:endParaRPr lang="en-US" sz="1600" dirty="0"/>
          </a:p>
        </p:txBody>
      </p:sp>
      <p:sp>
        <p:nvSpPr>
          <p:cNvPr id="12" name="手順の円 4"/>
          <p:cNvSpPr/>
          <p:nvPr/>
        </p:nvSpPr>
        <p:spPr>
          <a:xfrm>
            <a:off x="548640" y="385876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8587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79476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PC や Actions で、実通信を確認する(出力を貼る)</a:t>
            </a:r>
            <a:endParaRPr lang="en-US" sz="1600" dirty="0"/>
          </a:p>
        </p:txBody>
      </p:sp>
      <p:sp>
        <p:nvSpPr>
          <p:cNvPr id="15" name="手順の円 5"/>
          <p:cNvSpPr/>
          <p:nvPr/>
        </p:nvSpPr>
        <p:spPr>
          <a:xfrm>
            <a:off x="548640" y="463600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6360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457200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 が出力を読んで、不具合を直す</a:t>
            </a:r>
            <a:endParaRPr lang="en-US" sz="1600" dirty="0"/>
          </a:p>
        </p:txBody>
      </p:sp>
      <p:sp>
        <p:nvSpPr>
          <p:cNvPr id="18" name="手順の円 6"/>
          <p:cNvSpPr/>
          <p:nvPr/>
        </p:nvSpPr>
        <p:spPr>
          <a:xfrm>
            <a:off x="548640" y="541324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54132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280160" y="534924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確認できたことと未確認を、ノートと PR に残す</a:t>
            </a:r>
            <a:endParaRPr lang="en-US" sz="1600" dirty="0"/>
          </a:p>
        </p:txBody>
      </p:sp>
      <p:sp>
        <p:nvSpPr>
          <p:cNvPr id="21" name="コツのカード"/>
          <p:cNvSpPr/>
          <p:nvPr/>
        </p:nvSpPr>
        <p:spPr>
          <a:xfrm>
            <a:off x="7315200" y="1463040"/>
            <a:ext cx="4297680" cy="457200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22" name="コツ 円"/>
          <p:cNvSpPr/>
          <p:nvPr/>
        </p:nvSpPr>
        <p:spPr>
          <a:xfrm>
            <a:off x="7635240" y="173736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3" name="Image 0" descr="コ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06690" y="1908810"/>
            <a:ext cx="342900" cy="34290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8503920" y="17373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コツ</a:t>
            </a:r>
            <a:endParaRPr lang="en-US" sz="2200" dirty="0"/>
          </a:p>
        </p:txBody>
      </p:sp>
      <p:sp>
        <p:nvSpPr>
          <p:cNvPr id="25" name="Text 22"/>
          <p:cNvSpPr txBox="1"/>
          <p:nvPr/>
        </p:nvSpPr>
        <p:spPr>
          <a:xfrm>
            <a:off x="7635240" y="2743200"/>
            <a:ext cx="3657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出力は、省略せずに貼る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どこで実行するか(Windows か WSL か)を、コマンドごとに明記してもらう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 の説明が、推測か確認済みかを聞く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公開前の確認と、これから</a:t>
            </a:r>
            <a:endParaRPr lang="en-US" sz="3600" dirty="0"/>
          </a:p>
        </p:txBody>
      </p:sp>
      <p:sp>
        <p:nvSpPr>
          <p:cNvPr id="3" name="最後のカード 1"/>
          <p:cNvSpPr/>
          <p:nvPr/>
        </p:nvSpPr>
        <p:spPr>
          <a:xfrm>
            <a:off x="548640" y="1737360"/>
            <a:ext cx="5394960" cy="3931920"/>
          </a:xfrm>
          <a:prstGeom prst="roundRect">
            <a:avLst>
              <a:gd name="adj" fmla="val 2791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9659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公開前の確認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83464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ライセンスの有無を確認する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個人情報・秘密情報を残さない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攻撃に悪用できる内容を含めない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 が書いたコードは動かして確認</a:t>
            </a:r>
            <a:endParaRPr lang="en-US" sz="1800" dirty="0"/>
          </a:p>
        </p:txBody>
      </p:sp>
      <p:sp>
        <p:nvSpPr>
          <p:cNvPr id="6" name="最後のカード 2"/>
          <p:cNvSpPr/>
          <p:nvPr/>
        </p:nvSpPr>
        <p:spPr>
          <a:xfrm>
            <a:off x="6217920" y="1737360"/>
            <a:ext cx="5394960" cy="3931920"/>
          </a:xfrm>
          <a:prstGeom prst="roundRect">
            <a:avLst>
              <a:gd name="adj" fmla="val 2791"/>
            </a:avLst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0" y="19659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これから(残タスク)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6583680" y="283464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Semgrep の CI の修正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突き合わせ不可 2 件の調査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PC での確認(ラボ、PentestGPT)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詳細: docs/remaining-tasks.ja.md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erification Notes">
  <a:themeElements>
    <a:clrScheme name="Verification Notes">
      <a:dk1>
        <a:srgbClr val="1B2B34"/>
      </a:dk1>
      <a:lt1>
        <a:srgbClr val="FFFFFF"/>
      </a:lt1>
      <a:dk2>
        <a:srgbClr val="0E3B43"/>
      </a:dk2>
      <a:lt2>
        <a:srgbClr val="EAF3F2"/>
      </a:lt2>
      <a:accent1>
        <a:srgbClr val="0B7A75"/>
      </a:accent1>
      <a:accent2>
        <a:srgbClr val="E8A33D"/>
      </a:accent2>
      <a:accent3>
        <a:srgbClr val="5C7C8A"/>
      </a:accent3>
      <a:accent4>
        <a:srgbClr val="C8553D"/>
      </a:accent4>
      <a:accent5>
        <a:srgbClr val="5E9C6B"/>
      </a:accent5>
      <a:accent6>
        <a:srgbClr val="8E6C8A"/>
      </a:accent6>
      <a:hlink>
        <a:srgbClr val="0B7A75"/>
      </a:hlink>
      <a:folHlink>
        <a:srgbClr val="5C7C8A"/>
      </a:folHlink>
    </a:clrScheme>
    <a:fontScheme name="Verification Notes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と一緒に、検証用の道具を作った工程</dc:title>
  <dc:subject>PptxGenJS Presentation</dc:subject>
  <dc:creator>ai-agent-attack-defense</dc:creator>
  <cp:lastModifiedBy>ai-agent-attack-defense</cp:lastModifiedBy>
  <cp:revision>1</cp:revision>
  <dcterms:created xsi:type="dcterms:W3CDTF">2026-10-31T02:44:16Z</dcterms:created>
  <dcterms:modified xsi:type="dcterms:W3CDTF">2026-10-31T02:44:16Z</dcterms:modified>
</cp:coreProperties>
</file>
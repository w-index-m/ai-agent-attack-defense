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要" id="{8876139d-cc2e-6e21-57f7-e4706b48ba99}">
          <p14:sldIdLst>
            <p14:sldId id="256"/>
            <p14:sldId id="257"/>
            <p14:sldId id="258"/>
            <p14:sldId id="259"/>
          </p14:sldIdLst>
        </p14:section>
        <p14:section name="ツールの構造" id="{d063e709-a5b4-5da3-8c2d-3bdce68c8b4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防御" id="{037663f3-bf54-a868-e925-0b3f1f0e8db1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まとめ" id="{1d93ddf1-3ff9-3f49-62c5-d94912fa605b}">
          <p14:sldIdLst>
            <p14:sldId id="283"/>
            <p14:sldId id="284"/>
            <p14:sldId id="285"/>
          </p14:sldIdLst>
        </p14:section>
        <p14:section name="付録" id="{28cc21d9-a419-cfa5-5fc5-d2f0bf214003}">
          <p14:sldIdLst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米国以外の発行国別カード数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カード数</c:v>
                </c:pt>
              </c:strCache>
            </c:strRef>
          </c:tx>
          <c:spPr>
            <a:solidFill>
              <a:srgbClr val="0F7F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アラブ首長国連邦</c:v>
                  </c:pt>
                  <c:pt idx="1">
                    <c:v>サウジアラビア</c:v>
                  </c:pt>
                  <c:pt idx="2">
                    <c:v>英国</c:v>
                  </c:pt>
                  <c:pt idx="3">
                    <c:v>ニュージーランド</c:v>
                  </c:pt>
                  <c:pt idx="4">
                    <c:v>アイルランド</c:v>
                  </c:pt>
                  <c:pt idx="5">
                    <c:v>シンガポール</c:v>
                  </c:pt>
                  <c:pt idx="6">
                    <c:v>クウェート</c:v>
                  </c:pt>
                  <c:pt idx="7">
                    <c:v>オーストラリア</c:v>
                  </c:pt>
                  <c:pt idx="8">
                    <c:v>香港</c:v>
                  </c:pt>
                  <c:pt idx="9">
                    <c:v>フランス</c:v>
                  </c:pt>
                  <c:pt idx="10">
                    <c:v>カタール</c:v>
                  </c:pt>
                  <c:pt idx="11">
                    <c:v>残り196か国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13559</c:v>
                </c:pt>
                <c:pt idx="1">
                  <c:v>6785</c:v>
                </c:pt>
                <c:pt idx="2">
                  <c:v>6522</c:v>
                </c:pt>
                <c:pt idx="3">
                  <c:v>5710</c:v>
                </c:pt>
                <c:pt idx="4">
                  <c:v>5483</c:v>
                </c:pt>
                <c:pt idx="5">
                  <c:v>5305</c:v>
                </c:pt>
                <c:pt idx="6">
                  <c:v>4676</c:v>
                </c:pt>
                <c:pt idx="7">
                  <c:v>4672</c:v>
                </c:pt>
                <c:pt idx="8">
                  <c:v>4459</c:v>
                </c:pt>
                <c:pt idx="9">
                  <c:v>4295</c:v>
                </c:pt>
                <c:pt idx="10">
                  <c:v>4075</c:v>
                </c:pt>
                <c:pt idx="11">
                  <c:v>64025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</c:scaling>
        <c:delete val="0"/>
        <c:axPos val="b"/>
        <c:majorGridlines>
          <c:spPr>
            <a:ln w="6350" cap="flat">
              <a:solidFill>
                <a:srgbClr val="E1E5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C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Hermes / Strix / Cairn  構造と防御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AIエージェント型攻撃ツールの構造と防御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Hermes / Strix / Cairn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Gambit Security報告(2026年9月22日)の整理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2026年10月6日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146304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Strix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306324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Cairn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46634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Hermes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基礎:AIハーネスとは</a:t>
            </a:r>
            <a:endParaRPr lang="en-US" sz="3200" dirty="0"/>
          </a:p>
        </p:txBody>
      </p:sp>
      <p:sp>
        <p:nvSpPr>
          <p:cNvPr id="3" name="harness-def"/>
          <p:cNvSpPr/>
          <p:nvPr/>
        </p:nvSpPr>
        <p:spPr>
          <a:xfrm>
            <a:off x="548640" y="13716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AIハーネスとは、AIモデル(頭脳)を「実際に仕事ができる状態」にするための、周辺の仕組み全体のこと</a:t>
            </a:r>
            <a:endParaRPr lang="en-US" sz="1500" dirty="0"/>
          </a:p>
        </p:txBody>
      </p:sp>
      <p:sp>
        <p:nvSpPr>
          <p:cNvPr id="5" name="harness-analogy"/>
          <p:cNvSpPr/>
          <p:nvPr/>
        </p:nvSpPr>
        <p:spPr>
          <a:xfrm>
            <a:off x="548640" y="2286000"/>
            <a:ext cx="3657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たとえ話:馬と馬具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「ハーネス」の語源は馬具です。馬(AIモデル)に力があっても、馬具がなければ荷車を引けず、方向も決められません。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モデル単体は「文章を返すだけ」。ハーネスが付くと、調べる、ファイルを書く、コマンドを実行する、結果を見て次の手を決める、ところまで進められます。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286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ハーネスの主な部品</a:t>
            </a:r>
            <a:endParaRPr lang="en-US" sz="1400" dirty="0"/>
          </a:p>
        </p:txBody>
      </p:sp>
      <p:sp>
        <p:nvSpPr>
          <p:cNvPr id="9" name="harness-part-1"/>
          <p:cNvSpPr/>
          <p:nvPr/>
        </p:nvSpPr>
        <p:spPr>
          <a:xfrm>
            <a:off x="4434840" y="2651760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651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ループ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65176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考える → ツールを使う → 結果を見る → また考える、を繰り返す制御</a:t>
            </a:r>
            <a:endParaRPr lang="en-US" sz="1100" dirty="0"/>
          </a:p>
        </p:txBody>
      </p:sp>
      <p:sp>
        <p:nvSpPr>
          <p:cNvPr id="12" name="harness-part-2"/>
          <p:cNvSpPr/>
          <p:nvPr/>
        </p:nvSpPr>
        <p:spPr>
          <a:xfrm>
            <a:off x="4434840" y="3044952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044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ツール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449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Web検索、ファイル操作、シェル実行、ブラウザ操作など、AIの手足</a:t>
            </a:r>
            <a:endParaRPr lang="en-US" sz="1100" dirty="0"/>
          </a:p>
        </p:txBody>
      </p:sp>
      <p:sp>
        <p:nvSpPr>
          <p:cNvPr id="15" name="harness-part-3"/>
          <p:cNvSpPr/>
          <p:nvPr/>
        </p:nvSpPr>
        <p:spPr>
          <a:xfrm>
            <a:off x="4434840" y="3438144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438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記憶・文脈管理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43814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何をやったか、長い作業でどう覚えておくか</a:t>
            </a:r>
            <a:endParaRPr lang="en-US" sz="1100" dirty="0"/>
          </a:p>
        </p:txBody>
      </p:sp>
      <p:sp>
        <p:nvSpPr>
          <p:cNvPr id="18" name="harness-part-4"/>
          <p:cNvSpPr/>
          <p:nvPr/>
        </p:nvSpPr>
        <p:spPr>
          <a:xfrm>
            <a:off x="4434840" y="3831336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権限・安全装置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831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危険な操作の前に確認を取る。実行できる範囲を制限する</a:t>
            </a:r>
            <a:endParaRPr lang="en-US" sz="1100" dirty="0"/>
          </a:p>
        </p:txBody>
      </p:sp>
      <p:sp>
        <p:nvSpPr>
          <p:cNvPr id="21" name="harness-part-5"/>
          <p:cNvSpPr/>
          <p:nvPr/>
        </p:nvSpPr>
        <p:spPr>
          <a:xfrm>
            <a:off x="4434840" y="4224528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4224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サブエージェント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22452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作業を分担する別のAIを呼び出す仕組み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今回の3つのツールは、いずれもハーネス</a:t>
            </a:r>
            <a:endParaRPr lang="en-US" sz="1400" dirty="0"/>
          </a:p>
        </p:txBody>
      </p:sp>
      <p:sp>
        <p:nvSpPr>
          <p:cNvPr id="25" name="harness-tool-1"/>
          <p:cNvSpPr/>
          <p:nvPr/>
        </p:nvSpPr>
        <p:spPr>
          <a:xfrm>
            <a:off x="54864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Hermes Agent:汎用のエージェント用。ループ、70以上のツール、記憶、承認の仕組み</a:t>
            </a:r>
            <a:endParaRPr lang="en-US" sz="1100" dirty="0"/>
          </a:p>
        </p:txBody>
      </p:sp>
      <p:sp>
        <p:nvSpPr>
          <p:cNvPr id="28" name="harness-tool-2"/>
          <p:cNvSpPr/>
          <p:nvPr/>
        </p:nvSpPr>
        <p:spPr>
          <a:xfrm>
            <a:off x="429768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5257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Cairn:攻撃用。Blackboard(共有メモ)に事実と方針を書き、複数のワーカーが分担</a:t>
            </a:r>
            <a:endParaRPr lang="en-US" sz="1100" dirty="0"/>
          </a:p>
        </p:txBody>
      </p:sp>
      <p:sp>
        <p:nvSpPr>
          <p:cNvPr id="31" name="harness-tool-3"/>
          <p:cNvSpPr/>
          <p:nvPr/>
        </p:nvSpPr>
        <p:spPr>
          <a:xfrm>
            <a:off x="804672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5257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Strix:防御側の診断用。複数エージェントとDockerのサンドボックス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447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同じモデルでもハーネスが違えば働きが変わる。安全装置はハーネス側の設定で、モデルが断るかどうかだけでは決まらない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要点</a:t>
            </a:r>
            <a:endParaRPr lang="en-US" sz="3200" dirty="0"/>
          </a:p>
        </p:txBody>
      </p:sp>
      <p:sp>
        <p:nvSpPr>
          <p:cNvPr id="3" name="stat-card-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27社以上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侵入を確認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9/10〜15の5日間で105件の攻撃プロジェクト</a:t>
            </a:r>
            <a:endParaRPr lang="en-US" sz="1400" dirty="0"/>
          </a:p>
        </p:txBody>
      </p:sp>
      <p:sp>
        <p:nvSpPr>
          <p:cNvPr id="7" name="stat-card-2"/>
          <p:cNvSpPr/>
          <p:nvPr/>
        </p:nvSpPr>
        <p:spPr>
          <a:xfrm>
            <a:off x="429768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60万件超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カード情報が流出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2社から。うち米国発行は約49万件</a:t>
            </a:r>
            <a:endParaRPr lang="en-US" sz="1400" dirty="0"/>
          </a:p>
        </p:txBody>
      </p:sp>
      <p:sp>
        <p:nvSpPr>
          <p:cNvPr id="11" name="stat-card-3"/>
          <p:cNvSpPr/>
          <p:nvPr/>
        </p:nvSpPr>
        <p:spPr>
          <a:xfrm>
            <a:off x="804672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約$25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1標的あたりの費用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$3〜$79。AIモデル利用料の平均</a:t>
            </a:r>
            <a:endParaRPr lang="en-US" sz="1400" dirty="0"/>
          </a:p>
        </p:txBody>
      </p:sp>
      <p:sp>
        <p:nvSpPr>
          <p:cNvPr id="15" name="message-1"/>
          <p:cNvSpPr/>
          <p:nvPr/>
        </p:nvSpPr>
        <p:spPr>
          <a:xfrm>
            <a:off x="548640" y="37033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1304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使われたのは攻撃専用ではなく、公開されている正規のOSSの組み合わせ</a:t>
            </a:r>
            <a:endParaRPr lang="en-US" sz="1600" dirty="0"/>
          </a:p>
        </p:txBody>
      </p:sp>
      <p:sp>
        <p:nvSpPr>
          <p:cNvPr id="18" name="message-2"/>
          <p:cNvSpPr/>
          <p:nvPr/>
        </p:nvSpPr>
        <p:spPr>
          <a:xfrm>
            <a:off x="548640" y="448056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902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人の入力は短い指示のみ(260セッションで1,951プロンプト)</a:t>
            </a:r>
            <a:endParaRPr lang="en-US" sz="1600" dirty="0"/>
          </a:p>
        </p:txBody>
      </p:sp>
      <p:sp>
        <p:nvSpPr>
          <p:cNvPr id="21" name="message-3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6752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目的はカード情報の窃取。ランサムウェアではない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攻撃連鎖での役割分担</a:t>
            </a:r>
            <a:endParaRPr lang="en-US" sz="3200" dirty="0"/>
          </a:p>
        </p:txBody>
      </p:sp>
      <p:sp>
        <p:nvSpPr>
          <p:cNvPr id="3" name="role-card-Strix"/>
          <p:cNvSpPr/>
          <p:nvPr/>
        </p:nvSpPr>
        <p:spPr>
          <a:xfrm>
            <a:off x="5486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Strix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偵察・脆弱性発見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公開された診断用ツール。標的に対して深いモードで走査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使用モデル(Gambit報告)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GLM 5.2 → DeepSeek v4 Pro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50208" y="3017520"/>
            <a:ext cx="36576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role-card-Cairn"/>
          <p:cNvSpPr/>
          <p:nvPr/>
        </p:nvSpPr>
        <p:spPr>
          <a:xfrm>
            <a:off x="44348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Cairn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自律的な侵入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目標(シェル取得など)を与えられ、数時間かけて自走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使用モデル(Gambit報告)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DeepSeek v4.1 Flash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36408" y="3017520"/>
            <a:ext cx="36576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9" name="role-card-Hermes"/>
          <p:cNvSpPr/>
          <p:nvPr/>
        </p:nvSpPr>
        <p:spPr>
          <a:xfrm>
            <a:off x="83210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Hermes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指揮・侵入後の作業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全体を指揮し、侵入後の作業や次の指示を出す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使用モデル(Gambit報告)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Opus 4.6(新しいモデルに断られた後)</a:t>
            </a:r>
            <a:endParaRPr lang="en-US" sz="1400" dirty="0"/>
          </a:p>
        </p:txBody>
      </p:sp>
      <p:sp>
        <p:nvSpPr>
          <p:cNvPr id="26" name="role-note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人の役割は標的と目標を短く指示すること。AIモデルはOpenRouter経由で調達されていた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Strix:診断用AIエージェント</a:t>
            </a:r>
            <a:endParaRPr lang="en-US" sz="3200" dirty="0"/>
          </a:p>
        </p:txBody>
      </p:sp>
      <p:sp>
        <p:nvSpPr>
          <p:cNvPr id="3" name="strix-profile"/>
          <p:cNvSpPr/>
          <p:nvPr/>
        </p:nvSpPr>
        <p:spPr>
          <a:xfrm>
            <a:off x="548640" y="1463040"/>
            <a:ext cx="3291840" cy="4434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usestrix/strix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Apache-2.0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6.5万スター超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本来の用途:自社アプリの脆弱性を見つけて直す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公式の注意:許可された対象にのみ使用</a:t>
            </a:r>
            <a:endParaRPr lang="en-US" sz="1400" dirty="0"/>
          </a:p>
        </p:txBody>
      </p:sp>
      <p:sp>
        <p:nvSpPr>
          <p:cNvPr id="7" name="strix-layer-label-1"/>
          <p:cNvSpPr/>
          <p:nvPr/>
        </p:nvSpPr>
        <p:spPr>
          <a:xfrm>
            <a:off x="4114800" y="14630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入口</a:t>
            </a:r>
            <a:endParaRPr lang="en-US" sz="1400" dirty="0"/>
          </a:p>
        </p:txBody>
      </p:sp>
      <p:sp>
        <p:nvSpPr>
          <p:cNvPr id="9" name="strix-layer-body-1"/>
          <p:cNvSpPr/>
          <p:nvPr/>
        </p:nvSpPr>
        <p:spPr>
          <a:xfrm>
            <a:off x="6126480" y="14630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 / TUI / GitHub Actions(PRごとの診断)</a:t>
            </a:r>
            <a:endParaRPr lang="en-US" sz="1400" dirty="0"/>
          </a:p>
        </p:txBody>
      </p:sp>
      <p:sp>
        <p:nvSpPr>
          <p:cNvPr id="11" name="strix-layer-label-2"/>
          <p:cNvSpPr/>
          <p:nvPr/>
        </p:nvSpPr>
        <p:spPr>
          <a:xfrm>
            <a:off x="4114800" y="23774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2377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エージェント層</a:t>
            </a:r>
            <a:endParaRPr lang="en-US" sz="1400" dirty="0"/>
          </a:p>
        </p:txBody>
      </p:sp>
      <p:sp>
        <p:nvSpPr>
          <p:cNvPr id="13" name="strix-layer-body-2"/>
          <p:cNvSpPr/>
          <p:nvPr/>
        </p:nvSpPr>
        <p:spPr>
          <a:xfrm>
            <a:off x="6126480" y="23774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377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 of Agents:司令役のエージェントが専門の子エージェントを呼び出し、並列に分担。結果は完了報告・共有ノート・台帳で共有(次の資料で詳述)</a:t>
            </a:r>
            <a:endParaRPr lang="en-US" sz="1400" dirty="0"/>
          </a:p>
        </p:txBody>
      </p:sp>
      <p:sp>
        <p:nvSpPr>
          <p:cNvPr id="15" name="strix-layer-label-3"/>
          <p:cNvSpPr/>
          <p:nvPr/>
        </p:nvSpPr>
        <p:spPr>
          <a:xfrm>
            <a:off x="4114800" y="32918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0" y="3291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実行環境</a:t>
            </a:r>
            <a:endParaRPr lang="en-US" sz="1400" dirty="0"/>
          </a:p>
        </p:txBody>
      </p:sp>
      <p:sp>
        <p:nvSpPr>
          <p:cNvPr id="17" name="strix-layer-body-3"/>
          <p:cNvSpPr/>
          <p:nvPr/>
        </p:nvSpPr>
        <p:spPr>
          <a:xfrm>
            <a:off x="6126480" y="32918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2918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Dockerサンドボックス内にHTTPプロキシ・ブラウザ・ターミナル・Pythonランタイム・偵察ツール</a:t>
            </a:r>
            <a:endParaRPr lang="en-US" sz="1400" dirty="0"/>
          </a:p>
        </p:txBody>
      </p:sp>
      <p:sp>
        <p:nvSpPr>
          <p:cNvPr id="19" name="strix-layer-label-4"/>
          <p:cNvSpPr/>
          <p:nvPr/>
        </p:nvSpPr>
        <p:spPr>
          <a:xfrm>
            <a:off x="4114800" y="42062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0" y="4206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頭脳</a:t>
            </a:r>
            <a:endParaRPr lang="en-US" sz="1400" dirty="0"/>
          </a:p>
        </p:txBody>
      </p:sp>
      <p:sp>
        <p:nvSpPr>
          <p:cNvPr id="21" name="strix-layer-body-4"/>
          <p:cNvSpPr/>
          <p:nvPr/>
        </p:nvSpPr>
        <p:spPr>
          <a:xfrm>
            <a:off x="6126480" y="42062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4206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LiteLLM経由で任意のLLMを選べる。今回の実際の利用:GLM 5.2、のちにDeepSeek v4 Pro(Gambit報告)。スキル(知識パック)とMCP連携</a:t>
            </a:r>
            <a:endParaRPr lang="en-US" sz="1400" dirty="0"/>
          </a:p>
        </p:txBody>
      </p:sp>
      <p:sp>
        <p:nvSpPr>
          <p:cNvPr id="23" name="strix-layer-label-5"/>
          <p:cNvSpPr/>
          <p:nvPr/>
        </p:nvSpPr>
        <p:spPr>
          <a:xfrm>
            <a:off x="4114800" y="51206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14800" y="5120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出力</a:t>
            </a:r>
            <a:endParaRPr lang="en-US" sz="1400" dirty="0"/>
          </a:p>
        </p:txBody>
      </p:sp>
      <p:sp>
        <p:nvSpPr>
          <p:cNvPr id="25" name="strix-layer-body-5"/>
          <p:cNvSpPr/>
          <p:nvPr/>
        </p:nvSpPr>
        <p:spPr>
          <a:xfrm>
            <a:off x="6126480" y="51206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51206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PoC付きの検証済み指摘、レポート、修正パッチ案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出典:リポジトリのREADME・AGENTS.md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Strix:複数エージェントの動き方(Graph of Agents)</a:t>
            </a:r>
            <a:endParaRPr lang="en-US" sz="3200" dirty="0"/>
          </a:p>
        </p:txBody>
      </p:sp>
      <p:sp>
        <p:nvSpPr>
          <p:cNvPr id="3" name="goa-tree"/>
          <p:cNvSpPr/>
          <p:nvPr/>
        </p:nvSpPr>
        <p:spPr>
          <a:xfrm>
            <a:off x="548640" y="1371600"/>
            <a:ext cx="51206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誰が誰を呼ぶか</a:t>
            </a:r>
            <a:endParaRPr lang="en-US" sz="1400" dirty="0"/>
          </a:p>
        </p:txBody>
      </p:sp>
      <p:sp>
        <p:nvSpPr>
          <p:cNvPr id="5" name="goa-root"/>
          <p:cNvSpPr/>
          <p:nvPr/>
        </p:nvSpPr>
        <p:spPr>
          <a:xfrm>
            <a:off x="1828800" y="187452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ルート(司令役)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自分では診断せず指揮に専念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99232" y="2542032"/>
            <a:ext cx="228600" cy="27432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8" name="goa-child-1"/>
          <p:cNvSpPr/>
          <p:nvPr/>
        </p:nvSpPr>
        <p:spPr>
          <a:xfrm>
            <a:off x="73152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偵察係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(攻撃面の地図づくり)</a:t>
            </a:r>
            <a:endParaRPr lang="en-US" sz="1100" dirty="0"/>
          </a:p>
        </p:txBody>
      </p:sp>
      <p:sp>
        <p:nvSpPr>
          <p:cNvPr id="10" name="goa-child-2"/>
          <p:cNvSpPr/>
          <p:nvPr/>
        </p:nvSpPr>
        <p:spPr>
          <a:xfrm>
            <a:off x="237744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XSS・SQLi係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(脆弱性ごとの専門)</a:t>
            </a:r>
            <a:endParaRPr lang="en-US" sz="1100" dirty="0"/>
          </a:p>
        </p:txBody>
      </p:sp>
      <p:sp>
        <p:nvSpPr>
          <p:cNvPr id="12" name="goa-child-3"/>
          <p:cNvSpPr/>
          <p:nvPr/>
        </p:nvSpPr>
        <p:spPr>
          <a:xfrm>
            <a:off x="402336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検証係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(PoCで本当に悪用できるか確認)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・ルートが create_agent で専門の子を呼び出す。子はさらに子を呼べるので、枝分かれした木になる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・子は1〜3個の専門知識(スキル)を持ち、並列に動く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・呼ぶ前に view_agent_graph で、同じ担当がいないか確認する(重複防止)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・子は作業が終わると agent_finish で結果を親に返す。不要になった子は stop_agent で止める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見つけたことの共有のしかた(コードで確認)</a:t>
            </a:r>
            <a:endParaRPr lang="en-US" sz="1400" dirty="0"/>
          </a:p>
        </p:txBody>
      </p:sp>
      <p:sp>
        <p:nvSpPr>
          <p:cNvPr id="16" name="goa-share-label-1"/>
          <p:cNvSpPr/>
          <p:nvPr/>
        </p:nvSpPr>
        <p:spPr>
          <a:xfrm>
            <a:off x="5943600" y="17373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親子の引き継ぎ</a:t>
            </a:r>
            <a:endParaRPr lang="en-US" sz="1200" dirty="0"/>
          </a:p>
        </p:txBody>
      </p:sp>
      <p:sp>
        <p:nvSpPr>
          <p:cNvPr id="18" name="goa-share-body-1"/>
          <p:cNvSpPr/>
          <p:nvPr/>
        </p:nvSpPr>
        <p:spPr>
          <a:xfrm>
            <a:off x="7772400" y="173736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子は親の履歴を背景として引き継いで開始。完了時、所見と脆弱性レポートのIDが親の受信箱に届く</a:t>
            </a:r>
            <a:endParaRPr lang="en-US" sz="1100" dirty="0"/>
          </a:p>
        </p:txBody>
      </p:sp>
      <p:sp>
        <p:nvSpPr>
          <p:cNvPr id="20" name="goa-share-label-2"/>
          <p:cNvSpPr/>
          <p:nvPr/>
        </p:nvSpPr>
        <p:spPr>
          <a:xfrm>
            <a:off x="5943600" y="256032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メッセージ</a:t>
            </a:r>
            <a:endParaRPr lang="en-US" sz="1200" dirty="0"/>
          </a:p>
        </p:txBody>
      </p:sp>
      <p:sp>
        <p:nvSpPr>
          <p:cNvPr id="22" name="goa-share-body-2"/>
          <p:cNvSpPr/>
          <p:nvPr/>
        </p:nvSpPr>
        <p:spPr>
          <a:xfrm>
            <a:off x="7772400" y="256032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82128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send_message_to_agent で、認証情報などを他のエージェントに直接送れる。ただし必要なときだけに抑える方針</a:t>
            </a:r>
            <a:endParaRPr lang="en-US" sz="1100" dirty="0"/>
          </a:p>
        </p:txBody>
      </p:sp>
      <p:sp>
        <p:nvSpPr>
          <p:cNvPr id="24" name="goa-share-label-3"/>
          <p:cNvSpPr/>
          <p:nvPr/>
        </p:nvSpPr>
        <p:spPr>
          <a:xfrm>
            <a:off x="5943600" y="338328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共有ノート</a:t>
            </a:r>
            <a:endParaRPr lang="en-US" sz="1200" dirty="0"/>
          </a:p>
        </p:txBody>
      </p:sp>
      <p:sp>
        <p:nvSpPr>
          <p:cNvPr id="26" name="goa-share-body-3"/>
          <p:cNvSpPr/>
          <p:nvPr/>
        </p:nvSpPr>
        <p:spPr>
          <a:xfrm>
            <a:off x="7772400" y="338328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82128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全員が読み書きできるメモ。動く認証情報、見つけたエンドポイント一覧などを残す</a:t>
            </a:r>
            <a:endParaRPr lang="en-US" sz="1100" dirty="0"/>
          </a:p>
        </p:txBody>
      </p:sp>
      <p:sp>
        <p:nvSpPr>
          <p:cNvPr id="28" name="goa-share-label-4"/>
          <p:cNvSpPr/>
          <p:nvPr/>
        </p:nvSpPr>
        <p:spPr>
          <a:xfrm>
            <a:off x="594360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共有の台帳</a:t>
            </a:r>
            <a:endParaRPr lang="en-US" sz="1200" dirty="0"/>
          </a:p>
        </p:txBody>
      </p:sp>
      <p:sp>
        <p:nvSpPr>
          <p:cNvPr id="30" name="goa-share-body-4"/>
          <p:cNvSpPr/>
          <p:nvPr/>
        </p:nvSpPr>
        <p:spPr>
          <a:xfrm>
            <a:off x="7772400" y="420624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82128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脆弱性レポート、調査済みの範囲(カバレッジ)、脅威モデル。重複報告は自動で弾く</a:t>
            </a:r>
            <a:endParaRPr lang="en-US" sz="1100" dirty="0"/>
          </a:p>
        </p:txBody>
      </p:sp>
      <p:sp>
        <p:nvSpPr>
          <p:cNvPr id="32" name="goa-share-label-5"/>
          <p:cNvSpPr/>
          <p:nvPr/>
        </p:nvSpPr>
        <p:spPr>
          <a:xfrm>
            <a:off x="5943600" y="502920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0" y="5029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同じ作業場</a:t>
            </a:r>
            <a:endParaRPr lang="en-US" sz="1200" dirty="0"/>
          </a:p>
        </p:txBody>
      </p:sp>
      <p:sp>
        <p:nvSpPr>
          <p:cNvPr id="34" name="goa-share-body-5"/>
          <p:cNvSpPr/>
          <p:nvPr/>
        </p:nvSpPr>
        <p:spPr>
          <a:xfrm>
            <a:off x="7772400" y="502920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82128" y="5029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全員が同じDockerコンテナ、/workspace、プロキシの通信履歴を共有する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出典:Strixのコード(strix/tools/agents_graph、システムプロンプト)を確認。README の「発見を共有し、レッドチームのように協力」は、上の仕組みを指す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Cairn:共有ボード型の自律探索</a:t>
            </a:r>
            <a:endParaRPr lang="en-US" sz="3200" dirty="0"/>
          </a:p>
        </p:txBody>
      </p:sp>
      <p:sp>
        <p:nvSpPr>
          <p:cNvPr id="3" name="cairn-server"/>
          <p:cNvSpPr/>
          <p:nvPr/>
        </p:nvSpPr>
        <p:spPr>
          <a:xfrm>
            <a:off x="548640" y="1463040"/>
            <a:ext cx="585216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Cairn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 / Intent / Hint を持つ共有ボード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0" y="2651760"/>
            <a:ext cx="365760" cy="32004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cairn-dispatcher"/>
          <p:cNvSpPr/>
          <p:nvPr/>
        </p:nvSpPr>
        <p:spPr>
          <a:xfrm>
            <a:off x="548640" y="3063240"/>
            <a:ext cx="58521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Dispatcher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タスク配分・コンテナ管理・ボードへの唯一の書き手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4069080"/>
            <a:ext cx="365760" cy="32004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cairn-worker-1"/>
          <p:cNvSpPr/>
          <p:nvPr/>
        </p:nvSpPr>
        <p:spPr>
          <a:xfrm>
            <a:off x="54864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(案件A)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3" name="cairn-worker-2"/>
          <p:cNvSpPr/>
          <p:nvPr/>
        </p:nvSpPr>
        <p:spPr>
          <a:xfrm>
            <a:off x="356616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(案件B)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7" name="cairn-concept-Fact"/>
          <p:cNvSpPr/>
          <p:nvPr/>
        </p:nvSpPr>
        <p:spPr>
          <a:xfrm>
            <a:off x="6766560" y="146304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確認済みの事実</a:t>
            </a:r>
            <a:endParaRPr lang="en-US" sz="1400" dirty="0"/>
          </a:p>
        </p:txBody>
      </p:sp>
      <p:sp>
        <p:nvSpPr>
          <p:cNvPr id="20" name="cairn-concept-Intent"/>
          <p:cNvSpPr/>
          <p:nvPr/>
        </p:nvSpPr>
        <p:spPr>
          <a:xfrm>
            <a:off x="6766560" y="219456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2194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未実行の探索方向</a:t>
            </a:r>
            <a:endParaRPr lang="en-US" sz="1400" dirty="0"/>
          </a:p>
        </p:txBody>
      </p:sp>
      <p:sp>
        <p:nvSpPr>
          <p:cNvPr id="23" name="cairn-concept-Hint"/>
          <p:cNvSpPr/>
          <p:nvPr/>
        </p:nvSpPr>
        <p:spPr>
          <a:xfrm>
            <a:off x="6766560" y="292608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29260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Hint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人が随時入れる助言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749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Workerに固定の役割はなく、観察→判断→実行のループで次の探索を決める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Workerは共有ボード経由でのみ連携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Workerの実行基盤は選択式(Claude Code / Codex / Pi のCLIに対応)。今回どれを使ったかは報告になし。接続先のモデルは別に指定(報告ではDeepSeek)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AGPL-3.0、GitHub 3,200スター。Tencentのハッカソンで54/54問を解き3位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Hermes:自己成長型の汎用エージェント</a:t>
            </a:r>
            <a:endParaRPr lang="en-US" sz="3200" dirty="0"/>
          </a:p>
        </p:txBody>
      </p:sp>
      <p:sp>
        <p:nvSpPr>
          <p:cNvPr id="3" name="hermes-feature-1"/>
          <p:cNvSpPr/>
          <p:nvPr/>
        </p:nvSpPr>
        <p:spPr>
          <a:xfrm>
            <a:off x="54864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学習ループ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経験からスキルを自動作成し、使いながら改善</a:t>
            </a:r>
            <a:endParaRPr lang="en-US" sz="1400" dirty="0"/>
          </a:p>
        </p:txBody>
      </p:sp>
      <p:sp>
        <p:nvSpPr>
          <p:cNvPr id="6" name="hermes-feature-2"/>
          <p:cNvSpPr/>
          <p:nvPr/>
        </p:nvSpPr>
        <p:spPr>
          <a:xfrm>
            <a:off x="304038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232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永続メモリ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2326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過去の会話をFTS5で検索し、利用者像も蓄積</a:t>
            </a:r>
            <a:endParaRPr lang="en-US" sz="1400" dirty="0"/>
          </a:p>
        </p:txBody>
      </p:sp>
      <p:sp>
        <p:nvSpPr>
          <p:cNvPr id="9" name="hermes-feature-3"/>
          <p:cNvSpPr/>
          <p:nvPr/>
        </p:nvSpPr>
        <p:spPr>
          <a:xfrm>
            <a:off x="553212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1500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Gateway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Telegram・Discord・Slackなどから1つのプロセスで操作</a:t>
            </a:r>
            <a:endParaRPr lang="en-US" sz="1400" dirty="0"/>
          </a:p>
        </p:txBody>
      </p:sp>
      <p:sp>
        <p:nvSpPr>
          <p:cNvPr id="12" name="hermes-feature-4"/>
          <p:cNvSpPr/>
          <p:nvPr/>
        </p:nvSpPr>
        <p:spPr>
          <a:xfrm>
            <a:off x="54864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定時実行(cron)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自然言語で登録した作業を無人で実行</a:t>
            </a:r>
            <a:endParaRPr lang="en-US" sz="1400" dirty="0"/>
          </a:p>
        </p:txBody>
      </p:sp>
      <p:sp>
        <p:nvSpPr>
          <p:cNvPr id="15" name="hermes-feature-5"/>
          <p:cNvSpPr/>
          <p:nvPr/>
        </p:nvSpPr>
        <p:spPr>
          <a:xfrm>
            <a:off x="304038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2326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サブエージェント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2326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隔離した子エージェントを並列に走らせる</a:t>
            </a:r>
            <a:endParaRPr lang="en-US" sz="1400" dirty="0"/>
          </a:p>
        </p:txBody>
      </p:sp>
      <p:sp>
        <p:nvSpPr>
          <p:cNvPr id="18" name="hermes-feature-6"/>
          <p:cNvSpPr/>
          <p:nvPr/>
        </p:nvSpPr>
        <p:spPr>
          <a:xfrm>
            <a:off x="553212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実行基盤×7種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local・Docker・SSH・Singularity・Modal・Daytona・Vercel Sandbox</a:t>
            </a:r>
            <a:endParaRPr lang="en-US" sz="1400" dirty="0"/>
          </a:p>
        </p:txBody>
      </p:sp>
      <p:sp>
        <p:nvSpPr>
          <p:cNvPr id="21" name="hermes-abuse"/>
          <p:cNvSpPr/>
          <p:nvPr/>
        </p:nvSpPr>
        <p:spPr>
          <a:xfrm>
            <a:off x="8138160" y="1463040"/>
            <a:ext cx="3474720" cy="379476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今回の悪用(Gambit報告)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人格設定「Red Team Operator」を読み込み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121スキルのうち78が攻撃用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Hermes自身の安全フィルターを外すスキルを追加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モデルに断られると別モデルへ切替</a:t>
            </a:r>
            <a:endParaRPr lang="en-US" sz="1400" dirty="0"/>
          </a:p>
        </p:txBody>
      </p:sp>
      <p:sp>
        <p:nvSpPr>
          <p:cNvPr id="24" name="hermes-banner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MIT  /  GitHub 25万スター  /  40以上のツール  /  MCP対応  /  任意のモデルに切替可能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Cairnは様子を見ながら試す</a:t>
            </a:r>
            <a:endParaRPr lang="en-US" sz="3200" dirty="0"/>
          </a:p>
        </p:txBody>
      </p:sp>
      <p:sp>
        <p:nvSpPr>
          <p:cNvPr id="3" name="loop-step-1"/>
          <p:cNvSpPr/>
          <p:nvPr/>
        </p:nvSpPr>
        <p:spPr>
          <a:xfrm>
            <a:off x="54864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観察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共有ボードのこれまでの事実を読む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4553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loop-step-2"/>
          <p:cNvSpPr/>
          <p:nvPr/>
        </p:nvSpPr>
        <p:spPr>
          <a:xfrm>
            <a:off x="338328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判断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次に探る方向を決める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017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loop-step-3"/>
          <p:cNvSpPr/>
          <p:nvPr/>
        </p:nvSpPr>
        <p:spPr>
          <a:xfrm>
            <a:off x="621792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実行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その方向を1つ試す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1481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loop-step-4"/>
          <p:cNvSpPr/>
          <p:nvPr/>
        </p:nvSpPr>
        <p:spPr>
          <a:xfrm>
            <a:off x="905256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記録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結果を事実としてボードに書く</a:t>
            </a:r>
            <a:endParaRPr lang="en-US" sz="1400" dirty="0"/>
          </a:p>
        </p:txBody>
      </p:sp>
      <p:sp>
        <p:nvSpPr>
          <p:cNvPr id="22" name="loop-return"/>
          <p:cNvSpPr/>
          <p:nvPr/>
        </p:nvSpPr>
        <p:spPr>
          <a:xfrm>
            <a:off x="548640" y="3383280"/>
            <a:ext cx="110642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記録した結果を踏まえて、また観察へ戻る。目標を達成するか、時間切れになるまで繰り返す</a:t>
            </a:r>
            <a:endParaRPr lang="en-US" sz="1400" dirty="0"/>
          </a:p>
        </p:txBody>
      </p:sp>
      <p:sp>
        <p:nvSpPr>
          <p:cNvPr id="24" name="loop-example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例:Gambit報告の1案件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ログイン画面の欠陥 → 管理画面 → ファイルの設置 → root権限 → クラウドの鍵 → カード情報</a:t>
            </a:r>
            <a:endParaRPr lang="en-US" sz="1400" dirty="0"/>
          </a:p>
        </p:txBody>
      </p:sp>
      <p:sp>
        <p:nvSpPr>
          <p:cNvPr id="27" name="loop-meaning"/>
          <p:cNvSpPr/>
          <p:nvPr/>
        </p:nvSpPr>
        <p:spPr>
          <a:xfrm>
            <a:off x="621792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ここから分かること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617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結果を見て次を決めるので、経路は被害企業ごとに違う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1つの対策だけでは連鎖を止めきれない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人はヒントを入れられるが、大半は自走する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Hermesの内部構造</a:t>
            </a:r>
            <a:endParaRPr lang="en-US" sz="3200" dirty="0"/>
          </a:p>
        </p:txBody>
      </p:sp>
      <p:sp>
        <p:nvSpPr>
          <p:cNvPr id="3" name="hermes-entry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入口:ターミナル(CLI)、チャット連携(Telegram・Slack・Discordなど)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2084832"/>
            <a:ext cx="274320" cy="20116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hermes-loop"/>
          <p:cNvSpPr/>
          <p:nvPr/>
        </p:nvSpPr>
        <p:spPr>
          <a:xfrm>
            <a:off x="548640" y="233172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AIAgent(run_agent.py)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モデルに問い合わせ、道具を使い、結果を見る。これを道具が不要になるまで繰り返す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3273552"/>
            <a:ext cx="274320" cy="20116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hermes-part-1"/>
          <p:cNvSpPr/>
          <p:nvPr/>
        </p:nvSpPr>
        <p:spPr>
          <a:xfrm>
            <a:off x="548640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ツール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70以上。各ファイルが自分を登録するので追加が容易</a:t>
            </a:r>
            <a:endParaRPr lang="en-US" sz="1400" dirty="0"/>
          </a:p>
        </p:txBody>
      </p:sp>
      <p:sp>
        <p:nvSpPr>
          <p:cNvPr id="12" name="hermes-part-2"/>
          <p:cNvSpPr/>
          <p:nvPr/>
        </p:nvSpPr>
        <p:spPr>
          <a:xfrm>
            <a:off x="3346704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スキル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SKILL.mdの手順書。会話に差し込み、経験から自動生成も</a:t>
            </a:r>
            <a:endParaRPr lang="en-US" sz="1400" dirty="0"/>
          </a:p>
        </p:txBody>
      </p:sp>
      <p:sp>
        <p:nvSpPr>
          <p:cNvPr id="15" name="hermes-part-3"/>
          <p:cNvSpPr/>
          <p:nvPr/>
        </p:nvSpPr>
        <p:spPr>
          <a:xfrm>
            <a:off x="6144768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記憶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会話をSQLiteに保存し、全文検索で過去を引く</a:t>
            </a:r>
            <a:endParaRPr lang="en-US" sz="1400" dirty="0"/>
          </a:p>
        </p:txBody>
      </p:sp>
      <p:sp>
        <p:nvSpPr>
          <p:cNvPr id="18" name="hermes-part-4"/>
          <p:cNvSpPr/>
          <p:nvPr/>
        </p:nvSpPr>
        <p:spPr>
          <a:xfrm>
            <a:off x="8942832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71432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実行環境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local・Docker・SSHなど7種。コマンドはここで動く</a:t>
            </a:r>
            <a:endParaRPr lang="en-US" sz="1400" dirty="0"/>
          </a:p>
        </p:txBody>
      </p:sp>
      <p:sp>
        <p:nvSpPr>
          <p:cNvPr id="21" name="hermes-provider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モデル提供元:OpenRouter、OpenAI、Anthropicなど18以上から切り替え可能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Hermesの安全策とその限界</a:t>
            </a:r>
            <a:endParaRPr lang="en-US" sz="3200" dirty="0"/>
          </a:p>
        </p:txBody>
      </p:sp>
      <p:sp>
        <p:nvSpPr>
          <p:cNvPr id="3" name="safety-built-in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標準の安全策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危険なコマンドは、補助のAIが評価する承認(既定は「smart」)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システム全体を消すような一部の操作は、常に拒否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SSH鍵やクラウドの認証情報の書き換えを保護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チャットの利用者は、許可リストとペアリングコードで制限</a:t>
            </a:r>
            <a:endParaRPr lang="en-US" sz="1400" dirty="0"/>
          </a:p>
        </p:txBody>
      </p:sp>
      <p:sp>
        <p:nvSpPr>
          <p:cNvPr id="6" name="safety-limits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限界(今回の悪用につながった点)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承認の方式は、運用者が設定で変えられる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Dockerで動かすと、承認の確認は省かれる(コンテナを境界とみなす設計)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手元で動くOSSなので、運用者が手を加えられる。Gambit:安全フィルターを外すスキルを追加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最後のブレーキはLLM提供元の拒否。今回は拒否されると別モデルに切り替えた</a:t>
            </a:r>
            <a:endParaRPr lang="en-US" sz="1400" dirty="0"/>
          </a:p>
        </p:txBody>
      </p:sp>
      <p:sp>
        <p:nvSpPr>
          <p:cNvPr id="9" name="safety-takeaway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ツール側の安全策だけでは悪用を防げない。標的側の対策が必要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3つに共通する設計</a:t>
            </a:r>
            <a:endParaRPr lang="en-US" sz="3200" dirty="0"/>
          </a:p>
        </p:txBody>
      </p:sp>
      <p:sp>
        <p:nvSpPr>
          <p:cNvPr id="3" name="pattern-row-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pattern-icon-bg-1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目標だけ与え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目標だけ与える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人は短い指示を出すだけ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1810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463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人のペースを前提にした検知・対応は追いつかない</a:t>
            </a:r>
            <a:endParaRPr lang="en-US" sz="1600" dirty="0"/>
          </a:p>
        </p:txBody>
      </p:sp>
      <p:sp>
        <p:nvSpPr>
          <p:cNvPr id="10" name="pattern-row-2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pattern-icon-bg-2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疲れず試行を続け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443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70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疲れず試行を続ける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自走ループで数時間探索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2953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263640" y="2606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小規模・低知名度のサイトも標的になる(1標的約$25)</a:t>
            </a:r>
            <a:endParaRPr lang="en-US" sz="1600" dirty="0"/>
          </a:p>
        </p:txBody>
      </p:sp>
      <p:sp>
        <p:nvSpPr>
          <p:cNvPr id="17" name="pattern-row-3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8" name="pattern-icon-bg-3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並列で大量に実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873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45920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並列で大量に実行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コンテナやサブエージェントで同時進行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669280" y="4096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3749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手動の監視では間に合わず、自動の検知・遮断が要る</a:t>
            </a:r>
            <a:endParaRPr lang="en-US" sz="1600" dirty="0"/>
          </a:p>
        </p:txBody>
      </p:sp>
      <p:sp>
        <p:nvSpPr>
          <p:cNvPr id="24" name="pattern-row-4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pattern-icon-bg-4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経験を蓄積す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23036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45920" y="5056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経験を蓄積する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645920" y="5458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スキルやメモリとして手口を再利用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669280" y="5239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263640" y="4892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ある企業で通じた手口が他社でも再利用される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侵入の連鎖を断つ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連鎖の例(Gambit報告の1件)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断つための対策</a:t>
            </a:r>
            <a:endParaRPr lang="en-US" sz="1600" dirty="0"/>
          </a:p>
        </p:txBody>
      </p:sp>
      <p:sp>
        <p:nvSpPr>
          <p:cNvPr id="5" name="chain-step-1"/>
          <p:cNvSpPr/>
          <p:nvPr/>
        </p:nvSpPr>
        <p:spPr>
          <a:xfrm>
            <a:off x="548640" y="1828800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ログイン画面のSQLインジェクション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56816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hain-fix-1"/>
          <p:cNvSpPr/>
          <p:nvPr/>
        </p:nvSpPr>
        <p:spPr>
          <a:xfrm>
            <a:off x="6309360" y="1828800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プレースホルダ(パラメータ化クエリ)を徹底</a:t>
            </a:r>
            <a:endParaRPr lang="en-US" sz="1400" dirty="0"/>
          </a:p>
        </p:txBody>
      </p:sp>
      <p:sp>
        <p:nvSpPr>
          <p:cNvPr id="10" name="chain-step-2"/>
          <p:cNvSpPr/>
          <p:nvPr/>
        </p:nvSpPr>
        <p:spPr>
          <a:xfrm>
            <a:off x="548640" y="2450592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450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OTPがDBに平文で保存(MFA回避)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578608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chain-fix-2"/>
          <p:cNvSpPr/>
          <p:nvPr/>
        </p:nvSpPr>
        <p:spPr>
          <a:xfrm>
            <a:off x="6309360" y="2450592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450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OTPはハッシュ化し、短時間で失効</a:t>
            </a:r>
            <a:endParaRPr lang="en-US" sz="1400" dirty="0"/>
          </a:p>
        </p:txBody>
      </p:sp>
      <p:sp>
        <p:nvSpPr>
          <p:cNvPr id="15" name="chain-step-3"/>
          <p:cNvSpPr/>
          <p:nvPr/>
        </p:nvSpPr>
        <p:spPr>
          <a:xfrm>
            <a:off x="548640" y="3072384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723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管理画面のアップロードに拡張子検証なし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200400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chain-fix-3"/>
          <p:cNvSpPr/>
          <p:nvPr/>
        </p:nvSpPr>
        <p:spPr>
          <a:xfrm>
            <a:off x="6309360" y="3072384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0723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拡張子と内容を検証し、公開領域外に保存</a:t>
            </a:r>
            <a:endParaRPr lang="en-US" sz="1400" dirty="0"/>
          </a:p>
        </p:txBody>
      </p:sp>
      <p:sp>
        <p:nvSpPr>
          <p:cNvPr id="20" name="chain-step-4"/>
          <p:cNvSpPr/>
          <p:nvPr/>
        </p:nvSpPr>
        <p:spPr>
          <a:xfrm>
            <a:off x="548640" y="3694176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941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sudoがパスワードなしで実行可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822192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chain-fix-4"/>
          <p:cNvSpPr/>
          <p:nvPr/>
        </p:nvSpPr>
        <p:spPr>
          <a:xfrm>
            <a:off x="6309360" y="3694176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6941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NOPASSWDを廃止し、最小権限に</a:t>
            </a:r>
            <a:endParaRPr lang="en-US" sz="1400" dirty="0"/>
          </a:p>
        </p:txBody>
      </p:sp>
      <p:sp>
        <p:nvSpPr>
          <p:cNvPr id="25" name="chain-step-5"/>
          <p:cNvSpPr/>
          <p:nvPr/>
        </p:nvSpPr>
        <p:spPr>
          <a:xfrm>
            <a:off x="548640" y="4315968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3159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NFS設定不備と、設定ファイル内の認証情報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4443984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8" name="chain-fix-5"/>
          <p:cNvSpPr/>
          <p:nvPr/>
        </p:nvSpPr>
        <p:spPr>
          <a:xfrm>
            <a:off x="6309360" y="4315968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3159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no_root_squash回避、設定ファイルに秘密情報を置かない</a:t>
            </a:r>
            <a:endParaRPr lang="en-US" sz="1400" dirty="0"/>
          </a:p>
        </p:txBody>
      </p:sp>
      <p:sp>
        <p:nvSpPr>
          <p:cNvPr id="30" name="chain-step-6"/>
          <p:cNvSpPr/>
          <p:nvPr/>
        </p:nvSpPr>
        <p:spPr>
          <a:xfrm>
            <a:off x="548640" y="4937760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9377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Secrets Managerの全件取得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5065776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3" name="chain-fix-6"/>
          <p:cNvSpPr/>
          <p:nvPr/>
        </p:nvSpPr>
        <p:spPr>
          <a:xfrm>
            <a:off x="6309360" y="4937760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9377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IAMを最小権限にし、大量取得を検知</a:t>
            </a:r>
            <a:endParaRPr lang="en-US" sz="1400" dirty="0"/>
          </a:p>
        </p:txBody>
      </p:sp>
      <p:sp>
        <p:nvSpPr>
          <p:cNvPr id="35" name="chain-step-7"/>
          <p:cNvSpPr/>
          <p:nvPr/>
        </p:nvSpPr>
        <p:spPr>
          <a:xfrm>
            <a:off x="548640" y="5559552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555955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カード番号の暗号鍵が同じ環境から取得可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35040" y="5687568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8" name="chain-fix-7"/>
          <p:cNvSpPr/>
          <p:nvPr/>
        </p:nvSpPr>
        <p:spPr>
          <a:xfrm>
            <a:off x="6309360" y="5559552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555955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決済代行のトークン化でカード番号を持たない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決済ページを守る</a:t>
            </a:r>
            <a:endParaRPr lang="en-US" sz="3200" dirty="0"/>
          </a:p>
        </p:txBody>
      </p:sp>
      <p:sp>
        <p:nvSpPr>
          <p:cNvPr id="3" name="skimmer-routes"/>
          <p:cNvSpPr/>
          <p:nvPr/>
        </p:nvSpPr>
        <p:spPr>
          <a:xfrm>
            <a:off x="548640" y="146304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スキマーの設置経路(Gambit報告)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既存JS(jQueryなど)の末尾に1行追記し、更新日時も偽装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チェックアウトページに外部scriptタグを追加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Googleタグの記述内に隠蔽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CDN用S3バケットを書き換え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DBの商品説明欄に混入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Kubernetesのinitcontainerに混入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ページキャッシュを汚染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削除されても再注入するcronを設置</a:t>
            </a:r>
            <a:endParaRPr lang="en-US" sz="1400" dirty="0"/>
          </a:p>
        </p:txBody>
      </p:sp>
      <p:sp>
        <p:nvSpPr>
          <p:cNvPr id="6" name="skimmer-defense"/>
          <p:cNvSpPr/>
          <p:nvPr/>
        </p:nvSpPr>
        <p:spPr>
          <a:xfrm>
            <a:off x="612648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対策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CSPで script-src を許可リスト化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SRIでスクリプトの改ざんを検知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配信中のJSハッシュを、ビルド成果物と定期照合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決済はホステッドフィールドやiframeで自社JSから分離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ページ上のスクリプト一覧を定期的に棚卸し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S3/CDNの書込権限を絞り、変更を通知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cron・K8sマニフェスト・キャッシュの変更を監査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自社の決済方式で、守り方が変わる</a:t>
            </a:r>
            <a:endParaRPr lang="en-US" sz="3200" dirty="0"/>
          </a:p>
        </p:txBody>
      </p:sp>
      <p:sp>
        <p:nvSpPr>
          <p:cNvPr id="3" name="method-card-A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ホスト型決済ページ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決済代行のページへ移動する方式</a:t>
            </a:r>
            <a:endParaRPr lang="en-US" sz="1200" dirty="0"/>
          </a:p>
        </p:txBody>
      </p:sp>
      <p:sp>
        <p:nvSpPr>
          <p:cNvPr id="7" name="method-risk-A"/>
          <p:cNvSpPr/>
          <p:nvPr/>
        </p:nvSpPr>
        <p:spPr>
          <a:xfrm>
            <a:off x="822960" y="2880360"/>
            <a:ext cx="128016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リスク:低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カード番号は自社サイトを通らない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契約や設定の変更で移行できることが多い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PCI対応の負担も最も小さい</a:t>
            </a:r>
            <a:endParaRPr lang="en-US" sz="1400" dirty="0"/>
          </a:p>
        </p:txBody>
      </p:sp>
      <p:sp>
        <p:nvSpPr>
          <p:cNvPr id="10" name="method-card-B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埋め込み型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iframeやホステッドフィールドで入力欄だけ表示</a:t>
            </a:r>
            <a:endParaRPr lang="en-US" sz="1200" dirty="0"/>
          </a:p>
        </p:txBody>
      </p:sp>
      <p:sp>
        <p:nvSpPr>
          <p:cNvPr id="14" name="method-risk-B"/>
          <p:cNvSpPr/>
          <p:nvPr/>
        </p:nvSpPr>
        <p:spPr>
          <a:xfrm>
            <a:off x="4572000" y="2880360"/>
            <a:ext cx="12801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リスク:中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入力欄は決済代行が表示する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自社ページが改ざんされると、周辺を書き換えられる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スクリプト管理と改ざん検知が必要になることがある</a:t>
            </a:r>
            <a:endParaRPr lang="en-US" sz="1400" dirty="0"/>
          </a:p>
        </p:txBody>
      </p:sp>
      <p:sp>
        <p:nvSpPr>
          <p:cNvPr id="17" name="method-card-C"/>
          <p:cNvSpPr/>
          <p:nvPr/>
        </p:nvSpPr>
        <p:spPr>
          <a:xfrm>
            <a:off x="804672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自社フォームで受ける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カード番号を自社サーバーで受け取る方式</a:t>
            </a:r>
            <a:endParaRPr lang="en-US" sz="1200" dirty="0"/>
          </a:p>
        </p:txBody>
      </p:sp>
      <p:sp>
        <p:nvSpPr>
          <p:cNvPr id="21" name="method-risk-C"/>
          <p:cNvSpPr/>
          <p:nvPr/>
        </p:nvSpPr>
        <p:spPr>
          <a:xfrm>
            <a:off x="8321040" y="2880360"/>
            <a:ext cx="12801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リスク:高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スキマーの主な標的になる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可能ならAかBへの移行を最優先にする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移行までは、次ページの強化策をすべて実施</a:t>
            </a:r>
            <a:endParaRPr lang="en-US" sz="1400" dirty="0"/>
          </a:p>
        </p:txBody>
      </p:sp>
      <p:sp>
        <p:nvSpPr>
          <p:cNvPr id="24" name="method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まず今の方式を確認する。PCIの適用範囲は、決済代行やカード会社にも確認する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設定でできる決済ページの強化(優先順)</a:t>
            </a:r>
            <a:endParaRPr lang="en-US" sz="3200" dirty="0"/>
          </a:p>
        </p:txBody>
      </p:sp>
      <p:sp>
        <p:nvSpPr>
          <p:cNvPr id="3" name="setting-label-1"/>
          <p:cNvSpPr/>
          <p:nvPr/>
        </p:nvSpPr>
        <p:spPr>
          <a:xfrm>
            <a:off x="548640" y="1371600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決済方式を見直す</a:t>
            </a:r>
            <a:endParaRPr lang="en-US" sz="1400" dirty="0"/>
          </a:p>
        </p:txBody>
      </p:sp>
      <p:sp>
        <p:nvSpPr>
          <p:cNvPr id="5" name="setting-body-1"/>
          <p:cNvSpPr/>
          <p:nvPr/>
        </p:nvSpPr>
        <p:spPr>
          <a:xfrm>
            <a:off x="3383280" y="137160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11880" y="13716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AまたはBへ。契約や設定の変更で足りることが多い</a:t>
            </a:r>
            <a:endParaRPr lang="en-US" sz="1400" dirty="0"/>
          </a:p>
        </p:txBody>
      </p:sp>
      <p:sp>
        <p:nvSpPr>
          <p:cNvPr id="7" name="setting-label-2"/>
          <p:cNvSpPr/>
          <p:nvPr/>
        </p:nvSpPr>
        <p:spPr>
          <a:xfrm>
            <a:off x="548640" y="2066544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665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CSPを入れる</a:t>
            </a:r>
            <a:endParaRPr lang="en-US" sz="1400" dirty="0"/>
          </a:p>
        </p:txBody>
      </p:sp>
      <p:sp>
        <p:nvSpPr>
          <p:cNvPr id="9" name="setting-body-2"/>
          <p:cNvSpPr/>
          <p:nvPr/>
        </p:nvSpPr>
        <p:spPr>
          <a:xfrm>
            <a:off x="3383280" y="206654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06654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まずReport-Onlyで読込元を観測し、許可リストにしてから強制に切り替える</a:t>
            </a:r>
            <a:endParaRPr lang="en-US" sz="1400" dirty="0"/>
          </a:p>
        </p:txBody>
      </p:sp>
      <p:sp>
        <p:nvSpPr>
          <p:cNvPr id="11" name="setting-label-3"/>
          <p:cNvSpPr/>
          <p:nvPr/>
        </p:nvSpPr>
        <p:spPr>
          <a:xfrm>
            <a:off x="548640" y="2761488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614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SRIを付ける</a:t>
            </a:r>
            <a:endParaRPr lang="en-US" sz="1400" dirty="0"/>
          </a:p>
        </p:txBody>
      </p:sp>
      <p:sp>
        <p:nvSpPr>
          <p:cNvPr id="13" name="setting-body-3"/>
          <p:cNvSpPr/>
          <p:nvPr/>
        </p:nvSpPr>
        <p:spPr>
          <a:xfrm>
            <a:off x="3383280" y="276148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6148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自社配信の固定JSが対象。頻繁に変わる外部スクリプトには不向き</a:t>
            </a:r>
            <a:endParaRPr lang="en-US" sz="1400" dirty="0"/>
          </a:p>
        </p:txBody>
      </p:sp>
      <p:sp>
        <p:nvSpPr>
          <p:cNvPr id="15" name="setting-label-4"/>
          <p:cNvSpPr/>
          <p:nvPr/>
        </p:nvSpPr>
        <p:spPr>
          <a:xfrm>
            <a:off x="548640" y="3456432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564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タグを減らす</a:t>
            </a:r>
            <a:endParaRPr lang="en-US" sz="1400" dirty="0"/>
          </a:p>
        </p:txBody>
      </p:sp>
      <p:sp>
        <p:nvSpPr>
          <p:cNvPr id="17" name="setting-body-4"/>
          <p:cNvSpPr/>
          <p:nvPr/>
        </p:nvSpPr>
        <p:spPr>
          <a:xfrm>
            <a:off x="3383280" y="345643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11880" y="34564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決済ページに載せるスクリプトと、広告・計測タグを最小限にする</a:t>
            </a:r>
            <a:endParaRPr lang="en-US" sz="1400" dirty="0"/>
          </a:p>
        </p:txBody>
      </p:sp>
      <p:sp>
        <p:nvSpPr>
          <p:cNvPr id="19" name="setting-label-5"/>
          <p:cNvSpPr/>
          <p:nvPr/>
        </p:nvSpPr>
        <p:spPr>
          <a:xfrm>
            <a:off x="548640" y="4151376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513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変更を監視する</a:t>
            </a:r>
            <a:endParaRPr lang="en-US" sz="1400" dirty="0"/>
          </a:p>
        </p:txBody>
      </p:sp>
      <p:sp>
        <p:nvSpPr>
          <p:cNvPr id="21" name="setting-body-5"/>
          <p:cNvSpPr/>
          <p:nvPr/>
        </p:nvSpPr>
        <p:spPr>
          <a:xfrm>
            <a:off x="3383280" y="415137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11880" y="415137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スクリプトの追加・変更を通知する。Cloudflareは無料でスクリプト監視、変更検知は上位プラン</a:t>
            </a:r>
            <a:endParaRPr lang="en-US" sz="1400" dirty="0"/>
          </a:p>
        </p:txBody>
      </p:sp>
      <p:sp>
        <p:nvSpPr>
          <p:cNvPr id="23" name="setting-label-6"/>
          <p:cNvSpPr/>
          <p:nvPr/>
        </p:nvSpPr>
        <p:spPr>
          <a:xfrm>
            <a:off x="548640" y="4846320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8463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設定の変更も監視</a:t>
            </a:r>
            <a:endParaRPr lang="en-US" sz="1400" dirty="0"/>
          </a:p>
        </p:txBody>
      </p:sp>
      <p:sp>
        <p:nvSpPr>
          <p:cNvPr id="25" name="setting-body-6"/>
          <p:cNvSpPr/>
          <p:nvPr/>
        </p:nvSpPr>
        <p:spPr>
          <a:xfrm>
            <a:off x="3383280" y="48463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11880" y="484632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CSPの書き換え自体もリスク。変更履歴を残して通知する</a:t>
            </a:r>
            <a:endParaRPr lang="en-US" sz="1400" dirty="0"/>
          </a:p>
        </p:txBody>
      </p:sp>
      <p:sp>
        <p:nvSpPr>
          <p:cNvPr id="27" name="setting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CSPとSRIだけでは不十分。継続的な監視と組み合わせる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先に自社を診断する</a:t>
            </a:r>
            <a:endParaRPr lang="en-US" sz="3200" dirty="0"/>
          </a:p>
        </p:txBody>
      </p:sp>
      <p:sp>
        <p:nvSpPr>
          <p:cNvPr id="3" name="selftest-step-1"/>
          <p:cNvSpPr/>
          <p:nvPr/>
        </p:nvSpPr>
        <p:spPr>
          <a:xfrm>
            <a:off x="548640" y="14630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書面で許可と範囲を決める</a:t>
            </a:r>
            <a:endParaRPr lang="en-US" sz="1600" dirty="0"/>
          </a:p>
        </p:txBody>
      </p:sp>
      <p:sp>
        <p:nvSpPr>
          <p:cNvPr id="6" name="selftest-step-2"/>
          <p:cNvSpPr/>
          <p:nvPr/>
        </p:nvSpPr>
        <p:spPr>
          <a:xfrm>
            <a:off x="548640" y="23774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まずステージング環境で診断する</a:t>
            </a:r>
            <a:endParaRPr lang="en-US" sz="1600" dirty="0"/>
          </a:p>
        </p:txBody>
      </p:sp>
      <p:sp>
        <p:nvSpPr>
          <p:cNvPr id="9" name="selftest-step-3"/>
          <p:cNvSpPr/>
          <p:nvPr/>
        </p:nvSpPr>
        <p:spPr>
          <a:xfrm>
            <a:off x="548640" y="32918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PRごとの簡易診断をCI/CDに組み込む</a:t>
            </a:r>
            <a:endParaRPr lang="en-US" sz="1600" dirty="0"/>
          </a:p>
        </p:txBody>
      </p:sp>
      <p:sp>
        <p:nvSpPr>
          <p:cNvPr id="12" name="selftest-step-4"/>
          <p:cNvSpPr/>
          <p:nvPr/>
        </p:nvSpPr>
        <p:spPr>
          <a:xfrm>
            <a:off x="548640" y="42062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06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検出→修正→再テストを回す</a:t>
            </a:r>
            <a:endParaRPr lang="en-US" sz="1600" dirty="0"/>
          </a:p>
        </p:txBody>
      </p:sp>
      <p:sp>
        <p:nvSpPr>
          <p:cNvPr id="15" name="selftest-step-5"/>
          <p:cNvSpPr/>
          <p:nvPr/>
        </p:nvSpPr>
        <p:spPr>
          <a:xfrm>
            <a:off x="548640" y="51206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20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本番は範囲・時間帯・予算上限を決めて実施</a:t>
            </a:r>
            <a:endParaRPr lang="en-US" sz="1600" dirty="0"/>
          </a:p>
        </p:txBody>
      </p:sp>
      <p:sp>
        <p:nvSpPr>
          <p:cNvPr id="18" name="selftest-caution"/>
          <p:cNvSpPr/>
          <p:nvPr/>
        </p:nvSpPr>
        <p:spPr>
          <a:xfrm>
            <a:off x="7589520" y="1463040"/>
            <a:ext cx="4023360" cy="443484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運用上の注意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許可を得た対象にのみ実行する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コードや認証情報がLLM提供元へ送られる点を確認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AIが破壊的操作をする恐れ。Gambit事例では180テーブルが誤削除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実行前にバックアップを取り、書込・削除系を制限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復旧力と検知</a:t>
            </a:r>
            <a:endParaRPr lang="en-US" sz="3200" dirty="0"/>
          </a:p>
        </p:txBody>
      </p:sp>
      <p:sp>
        <p:nvSpPr>
          <p:cNvPr id="3" name="recovery-card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pic>
        <p:nvPicPr>
          <p:cNvPr id="4" name="Image 0" descr="復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復旧力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バックアップは本番と別アカウントに隔離し、削除不可にする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事業継続に最低限必要なシステム群を定義する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「DBを戻す」で終わらず、サービス再開までの復旧を訓練する</a:t>
            </a:r>
            <a:endParaRPr lang="en-US" sz="1600" dirty="0"/>
          </a:p>
        </p:txBody>
      </p:sp>
      <p:sp>
        <p:nvSpPr>
          <p:cNvPr id="7" name="detection-card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pic>
        <p:nvPicPr>
          <p:cNvPr id="8" name="Image 1" descr="検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検知と対応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管理画面への新規ログイン、新規管理者、想定外のアップロード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短時間の大量アクセスにレート制限・ボット対策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外向きの不審なDNS/HTTP通信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Gambit公開のIOC(不審ドメイン・IP)と照合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機械の速さで動く自動隔離・自動対応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脆弱性を調べるAI・LLMツール</a:t>
            </a:r>
            <a:endParaRPr lang="en-US" sz="3200" dirty="0"/>
          </a:p>
        </p:txBody>
      </p:sp>
      <p:sp>
        <p:nvSpPr>
          <p:cNvPr id="3" name="tool-row-1"/>
          <p:cNvSpPr/>
          <p:nvPr/>
        </p:nvSpPr>
        <p:spPr>
          <a:xfrm>
            <a:off x="548640" y="137160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動いているアプリを、攻撃者の目線で診断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例:Strix(オープンソース)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ステージングで実行。PRごとのCI診断にも対応し、再現手順つきで報告</a:t>
            </a:r>
            <a:endParaRPr lang="en-US" sz="1400" dirty="0"/>
          </a:p>
        </p:txBody>
      </p:sp>
      <p:sp>
        <p:nvSpPr>
          <p:cNvPr id="7" name="tool-row-2"/>
          <p:cNvSpPr/>
          <p:nvPr/>
        </p:nvSpPr>
        <p:spPr>
          <a:xfrm>
            <a:off x="548640" y="278892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986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ソースコードを読んで、指摘と修正案を出す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例:GitHub Copilot Autofix、Semgrep、Snyk、Claude Security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AI搭載のコード診断。機能や料金は各社で要確認(今回は個別に検証していません)</a:t>
            </a:r>
            <a:endParaRPr lang="en-US" sz="1400" dirty="0"/>
          </a:p>
        </p:txBody>
      </p:sp>
      <p:sp>
        <p:nvSpPr>
          <p:cNvPr id="11" name="tool-row-3"/>
          <p:cNvSpPr/>
          <p:nvPr/>
        </p:nvSpPr>
        <p:spPr>
          <a:xfrm>
            <a:off x="548640" y="420624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159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決済ページのスクリプトを監視する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例:Cloudflare Client-side Security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9834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LLMではなく専用の監視サービス。診断ツールと併用する</a:t>
            </a:r>
            <a:endParaRPr lang="en-US" sz="1400" dirty="0"/>
          </a:p>
        </p:txBody>
      </p:sp>
      <p:sp>
        <p:nvSpPr>
          <p:cNvPr id="15" name="tool-caution"/>
          <p:cNvSpPr/>
          <p:nvPr/>
        </p:nvSpPr>
        <p:spPr>
          <a:xfrm>
            <a:off x="7772400" y="1371600"/>
            <a:ext cx="3840480" cy="411480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使うときの注意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1031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許可を得た環境にだけ使う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コードや認証情報がLLM提供元へ送られる点を確認する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AIの指摘には誤検知も見逃しもある。人が確認する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診断だけでは直らない。修正と再診断まで回す</a:t>
            </a:r>
            <a:endParaRPr lang="en-US" sz="1400" dirty="0"/>
          </a:p>
        </p:txBody>
      </p:sp>
      <p:sp>
        <p:nvSpPr>
          <p:cNvPr id="18" name="tool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AIは、見つけて直すための補助。最終判断は人が行う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診断結果が出たら:対処の手順</a:t>
            </a:r>
            <a:endParaRPr lang="en-US" sz="3200" dirty="0"/>
          </a:p>
        </p:txBody>
      </p:sp>
      <p:sp>
        <p:nvSpPr>
          <p:cNvPr id="3" name="after-step-1"/>
          <p:cNvSpPr/>
          <p:nvPr/>
        </p:nvSpPr>
        <p:spPr>
          <a:xfrm>
            <a:off x="548640" y="13716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重大度で分ける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01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カード・認証・管理画面に関わるものを最優先にする</a:t>
            </a:r>
            <a:endParaRPr lang="en-US" sz="1400" dirty="0"/>
          </a:p>
        </p:txBody>
      </p:sp>
      <p:sp>
        <p:nvSpPr>
          <p:cNvPr id="7" name="after-step-2"/>
          <p:cNvSpPr/>
          <p:nvPr/>
        </p:nvSpPr>
        <p:spPr>
          <a:xfrm>
            <a:off x="548640" y="22860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77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塞げないものは一時対処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15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WAFのルール追加、機能の一時停止、アクセス制限</a:t>
            </a:r>
            <a:endParaRPr lang="en-US" sz="1400" dirty="0"/>
          </a:p>
        </p:txBody>
      </p:sp>
      <p:sp>
        <p:nvSpPr>
          <p:cNvPr id="11" name="after-step-3"/>
          <p:cNvSpPr/>
          <p:nvPr/>
        </p:nvSpPr>
        <p:spPr>
          <a:xfrm>
            <a:off x="548640" y="32004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91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根本から修正する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30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プレースホルダ、アップロード検証など、前述の連鎖対策</a:t>
            </a:r>
            <a:endParaRPr lang="en-US" sz="1400" dirty="0"/>
          </a:p>
        </p:txBody>
      </p:sp>
      <p:sp>
        <p:nvSpPr>
          <p:cNvPr id="15" name="after-step-4"/>
          <p:cNvSpPr/>
          <p:nvPr/>
        </p:nvSpPr>
        <p:spPr>
          <a:xfrm>
            <a:off x="548640" y="41148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06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再診断して確認する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445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同じツールで再実行し、直ったことを確かめる</a:t>
            </a:r>
            <a:endParaRPr lang="en-US" sz="1400" dirty="0"/>
          </a:p>
        </p:txBody>
      </p:sp>
      <p:sp>
        <p:nvSpPr>
          <p:cNvPr id="19" name="after-step-5"/>
          <p:cNvSpPr/>
          <p:nvPr/>
        </p:nvSpPr>
        <p:spPr>
          <a:xfrm>
            <a:off x="548640" y="50292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仕組みにして再発を防ぐ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589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PRごとの自動診断に組み込む</a:t>
            </a:r>
            <a:endParaRPr lang="en-US" sz="1400" dirty="0"/>
          </a:p>
        </p:txBody>
      </p:sp>
      <p:sp>
        <p:nvSpPr>
          <p:cNvPr id="23" name="after-points"/>
          <p:cNvSpPr/>
          <p:nvPr/>
        </p:nvSpPr>
        <p:spPr>
          <a:xfrm>
            <a:off x="777240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ポイント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1031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AIの診断は入口。修正の最終判断は人が行う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本番での診断は、範囲・時間・予算を決めて行う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実行前にバックアップを取る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ツールで見つけられるものと、別の対策が要るもの</a:t>
            </a:r>
            <a:endParaRPr lang="en-US" sz="3200" dirty="0"/>
          </a:p>
        </p:txBody>
      </p:sp>
      <p:sp>
        <p:nvSpPr>
          <p:cNvPr id="3" name="find-yes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診断ツール(Strixなど)で見つけやすい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SQLインジェクションなど、入力処理の欠陥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アップロード検証の不備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ログインやOTPの設計上の弱点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公開されたままの管理画面、設定の不備</a:t>
            </a:r>
            <a:endParaRPr lang="en-US" sz="1400" dirty="0"/>
          </a:p>
        </p:txBody>
      </p:sp>
      <p:sp>
        <p:nvSpPr>
          <p:cNvPr id="6" name="find-no"/>
          <p:cNvSpPr/>
          <p:nvPr/>
        </p:nvSpPr>
        <p:spPr>
          <a:xfrm>
            <a:off x="6172200" y="137160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診断では見つけにくい。別の対策が必要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すでに仕込まれたスキマー(改ざんの監視が必要)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社内の権限設計(sudo、NFS、クラウドの鍵)は、診断の範囲と許可に左右される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バックアップと復旧体制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決済方式そのもの(設計の見直し)</a:t>
            </a:r>
            <a:endParaRPr lang="en-US" sz="1400" dirty="0"/>
          </a:p>
        </p:txBody>
      </p:sp>
      <p:sp>
        <p:nvSpPr>
          <p:cNvPr id="9" name="find-note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Strixを先に回せば、入口の欠陥はかなり減らせる可能性がある。ただし今回の事例での効果を検証した報告はなく、これだけでは足りない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CIで回し続けるツールの種類</a:t>
            </a:r>
            <a:endParaRPr lang="en-US" sz="3200" dirty="0"/>
          </a:p>
        </p:txBody>
      </p:sp>
      <p:sp>
        <p:nvSpPr>
          <p:cNvPr id="3" name="ci-conclusion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CIの環境をDMZに置く必要はない。必要なのは、診断の相手になる「本番そっくりの検証環境」と、診断ツールを動かす隔離された場所</a:t>
            </a:r>
            <a:endParaRPr lang="en-US" sz="1400" dirty="0"/>
          </a:p>
        </p:txBody>
      </p:sp>
      <p:sp>
        <p:nvSpPr>
          <p:cNvPr id="5" name="ci-head-1"/>
          <p:cNvSpPr/>
          <p:nvPr/>
        </p:nvSpPr>
        <p:spPr>
          <a:xfrm>
            <a:off x="548640" y="2240280"/>
            <a:ext cx="356616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何を見るか</a:t>
            </a:r>
            <a:endParaRPr lang="en-US" sz="1200" dirty="0"/>
          </a:p>
        </p:txBody>
      </p:sp>
      <p:sp>
        <p:nvSpPr>
          <p:cNvPr id="7" name="ci-head-2"/>
          <p:cNvSpPr/>
          <p:nvPr/>
        </p:nvSpPr>
        <p:spPr>
          <a:xfrm>
            <a:off x="4206240" y="2240280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2240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ツールの例</a:t>
            </a:r>
            <a:endParaRPr lang="en-US" sz="1200" dirty="0"/>
          </a:p>
        </p:txBody>
      </p:sp>
      <p:sp>
        <p:nvSpPr>
          <p:cNvPr id="9" name="ci-head-3"/>
          <p:cNvSpPr/>
          <p:nvPr/>
        </p:nvSpPr>
        <p:spPr>
          <a:xfrm>
            <a:off x="8229600" y="2240280"/>
            <a:ext cx="338328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2240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動かすタイミング</a:t>
            </a:r>
            <a:endParaRPr lang="en-US" sz="1200" dirty="0"/>
          </a:p>
        </p:txBody>
      </p:sp>
      <p:sp>
        <p:nvSpPr>
          <p:cNvPr id="11" name="ci-cell-1-1"/>
          <p:cNvSpPr/>
          <p:nvPr/>
        </p:nvSpPr>
        <p:spPr>
          <a:xfrm>
            <a:off x="548640" y="2697480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697480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コードの弱点(SQLインジェクションなど)</a:t>
            </a:r>
            <a:endParaRPr lang="en-US" sz="1200" dirty="0"/>
          </a:p>
        </p:txBody>
      </p:sp>
      <p:sp>
        <p:nvSpPr>
          <p:cNvPr id="13" name="ci-cell-1-2"/>
          <p:cNvSpPr/>
          <p:nvPr/>
        </p:nvSpPr>
        <p:spPr>
          <a:xfrm>
            <a:off x="4206240" y="2697480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5968" y="2697480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Semgrep、CodeQL</a:t>
            </a:r>
            <a:endParaRPr lang="en-US" sz="1200" dirty="0"/>
          </a:p>
        </p:txBody>
      </p:sp>
      <p:sp>
        <p:nvSpPr>
          <p:cNvPr id="15" name="ci-cell-1-3"/>
          <p:cNvSpPr/>
          <p:nvPr/>
        </p:nvSpPr>
        <p:spPr>
          <a:xfrm>
            <a:off x="8229600" y="2697480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697480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プルリクごと</a:t>
            </a:r>
            <a:endParaRPr lang="en-US" sz="1200" dirty="0"/>
          </a:p>
        </p:txBody>
      </p:sp>
      <p:sp>
        <p:nvSpPr>
          <p:cNvPr id="17" name="ci-cell-2-1"/>
          <p:cNvSpPr/>
          <p:nvPr/>
        </p:nvSpPr>
        <p:spPr>
          <a:xfrm>
            <a:off x="548640" y="3355848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355848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使っている部品の既知の脆弱性</a:t>
            </a:r>
            <a:endParaRPr lang="en-US" sz="1200" dirty="0"/>
          </a:p>
        </p:txBody>
      </p:sp>
      <p:sp>
        <p:nvSpPr>
          <p:cNvPr id="19" name="ci-cell-2-2"/>
          <p:cNvSpPr/>
          <p:nvPr/>
        </p:nvSpPr>
        <p:spPr>
          <a:xfrm>
            <a:off x="4206240" y="3355848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3355848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Dependabot、OSV-Scanner、Trivy</a:t>
            </a:r>
            <a:endParaRPr lang="en-US" sz="1200" dirty="0"/>
          </a:p>
        </p:txBody>
      </p:sp>
      <p:sp>
        <p:nvSpPr>
          <p:cNvPr id="21" name="ci-cell-2-3"/>
          <p:cNvSpPr/>
          <p:nvPr/>
        </p:nvSpPr>
        <p:spPr>
          <a:xfrm>
            <a:off x="8229600" y="3355848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39328" y="3355848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プルリクごと+毎日</a:t>
            </a:r>
            <a:endParaRPr lang="en-US" sz="1200" dirty="0"/>
          </a:p>
        </p:txBody>
      </p:sp>
      <p:sp>
        <p:nvSpPr>
          <p:cNvPr id="23" name="ci-cell-3-1"/>
          <p:cNvSpPr/>
          <p:nvPr/>
        </p:nvSpPr>
        <p:spPr>
          <a:xfrm>
            <a:off x="548640" y="4014216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014216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秘密情報の混入(キー、パスワード)</a:t>
            </a:r>
            <a:endParaRPr lang="en-US" sz="1200" dirty="0"/>
          </a:p>
        </p:txBody>
      </p:sp>
      <p:sp>
        <p:nvSpPr>
          <p:cNvPr id="25" name="ci-cell-3-2"/>
          <p:cNvSpPr/>
          <p:nvPr/>
        </p:nvSpPr>
        <p:spPr>
          <a:xfrm>
            <a:off x="4206240" y="4014216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15968" y="4014216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gitleaks、trufflehog</a:t>
            </a:r>
            <a:endParaRPr lang="en-US" sz="1200" dirty="0"/>
          </a:p>
        </p:txBody>
      </p:sp>
      <p:sp>
        <p:nvSpPr>
          <p:cNvPr id="27" name="ci-cell-3-3"/>
          <p:cNvSpPr/>
          <p:nvPr/>
        </p:nvSpPr>
        <p:spPr>
          <a:xfrm>
            <a:off x="8229600" y="4014216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39328" y="4014216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コミットごと</a:t>
            </a:r>
            <a:endParaRPr lang="en-US" sz="1200" dirty="0"/>
          </a:p>
        </p:txBody>
      </p:sp>
      <p:sp>
        <p:nvSpPr>
          <p:cNvPr id="29" name="ci-cell-4-1"/>
          <p:cNvSpPr/>
          <p:nvPr/>
        </p:nvSpPr>
        <p:spPr>
          <a:xfrm>
            <a:off x="548640" y="4672584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672584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インフラ設定の不備(sudo、権限、公開設定)</a:t>
            </a:r>
            <a:endParaRPr lang="en-US" sz="1200" dirty="0"/>
          </a:p>
        </p:txBody>
      </p:sp>
      <p:sp>
        <p:nvSpPr>
          <p:cNvPr id="31" name="ci-cell-4-2"/>
          <p:cNvSpPr/>
          <p:nvPr/>
        </p:nvSpPr>
        <p:spPr>
          <a:xfrm>
            <a:off x="4206240" y="4672584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15968" y="4672584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Checkov、Trivy</a:t>
            </a:r>
            <a:endParaRPr lang="en-US" sz="1200" dirty="0"/>
          </a:p>
        </p:txBody>
      </p:sp>
      <p:sp>
        <p:nvSpPr>
          <p:cNvPr id="33" name="ci-cell-4-3"/>
          <p:cNvSpPr/>
          <p:nvPr/>
        </p:nvSpPr>
        <p:spPr>
          <a:xfrm>
            <a:off x="8229600" y="4672584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39328" y="4672584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設定変更ごと</a:t>
            </a:r>
            <a:endParaRPr lang="en-US" sz="1200" dirty="0"/>
          </a:p>
        </p:txBody>
      </p:sp>
      <p:sp>
        <p:nvSpPr>
          <p:cNvPr id="35" name="ci-cell-5-1"/>
          <p:cNvSpPr/>
          <p:nvPr/>
        </p:nvSpPr>
        <p:spPr>
          <a:xfrm>
            <a:off x="548640" y="5330952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5330952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動いているアプリへの攻撃的な診断</a:t>
            </a:r>
            <a:endParaRPr lang="en-US" sz="1200" dirty="0"/>
          </a:p>
        </p:txBody>
      </p:sp>
      <p:sp>
        <p:nvSpPr>
          <p:cNvPr id="37" name="ci-cell-5-2"/>
          <p:cNvSpPr/>
          <p:nvPr/>
        </p:nvSpPr>
        <p:spPr>
          <a:xfrm>
            <a:off x="4206240" y="5330952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315968" y="5330952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OWASP ZAP、Nuclei、Strix</a:t>
            </a:r>
            <a:endParaRPr lang="en-US" sz="1200" dirty="0"/>
          </a:p>
        </p:txBody>
      </p:sp>
      <p:sp>
        <p:nvSpPr>
          <p:cNvPr id="39" name="ci-cell-5-3"/>
          <p:cNvSpPr/>
          <p:nvPr/>
        </p:nvSpPr>
        <p:spPr>
          <a:xfrm>
            <a:off x="8229600" y="5330952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39328" y="5330952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検証環境へ、リリース前+週次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黄色の行が、今回の攻撃側と同じ種類の確認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診断ツールをどこで動かすか</a:t>
            </a:r>
            <a:endParaRPr lang="en-US" sz="3200" dirty="0"/>
          </a:p>
        </p:txBody>
      </p:sp>
      <p:sp>
        <p:nvSpPr>
          <p:cNvPr id="3" name="env-card-1"/>
          <p:cNvSpPr/>
          <p:nvPr/>
        </p:nvSpPr>
        <p:spPr>
          <a:xfrm>
            <a:off x="54864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env-card-head-1"/>
          <p:cNvSpPr/>
          <p:nvPr/>
        </p:nvSpPr>
        <p:spPr>
          <a:xfrm>
            <a:off x="54864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検証環境(攻撃的な診断はここへ)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ダミーデータの、本番そっくりの環境に向ける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理由:攻撃用の自動ツールは、DBの変更や削除までやる。Gambit報告でも、エージェントの後片付けで180テーブルが消えた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本番と別のネットワークにし、本番のデータや認証情報を置かない</a:t>
            </a:r>
            <a:endParaRPr lang="en-US" sz="1200" dirty="0"/>
          </a:p>
        </p:txBody>
      </p:sp>
      <p:sp>
        <p:nvSpPr>
          <p:cNvPr id="7" name="env-card-2"/>
          <p:cNvSpPr/>
          <p:nvPr/>
        </p:nvSpPr>
        <p:spPr>
          <a:xfrm>
            <a:off x="429768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8" name="env-card-head-2"/>
          <p:cNvSpPr/>
          <p:nvPr/>
        </p:nvSpPr>
        <p:spPr>
          <a:xfrm>
            <a:off x="429768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本番に対して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攻撃的な診断はしない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外部から見える範囲のスキャン(開いているポートや管理画面の露出)と、決済ページの変更検知が中心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やる場合は、許可を取った範囲に限り、書き込みを避ける設定で</a:t>
            </a:r>
            <a:endParaRPr lang="en-US" sz="1200" dirty="0"/>
          </a:p>
        </p:txBody>
      </p:sp>
      <p:sp>
        <p:nvSpPr>
          <p:cNvPr id="11" name="env-card-3"/>
          <p:cNvSpPr/>
          <p:nvPr/>
        </p:nvSpPr>
        <p:spPr>
          <a:xfrm>
            <a:off x="804672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2" name="env-card-head-3"/>
          <p:cNvSpPr/>
          <p:nvPr/>
        </p:nvSpPr>
        <p:spPr>
          <a:xfrm>
            <a:off x="804672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CI自体も狙われる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CIにはキーやパスワードが集まる。破られると被害が大きい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ランナーは使い捨てにし、本番への権限を持たせない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Strixのような診断用AIはLLMのAPIキーが要り、対象のコードや応答がLLM側に送られる。事前に確認</a:t>
            </a:r>
            <a:endParaRPr lang="en-US" sz="1200" dirty="0"/>
          </a:p>
        </p:txBody>
      </p:sp>
      <p:sp>
        <p:nvSpPr>
          <p:cNvPr id="15" name="first-steps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最初の一歩(小さく始めるなら)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シークレット検出と依存関係のスキャンを、プルリクごとに回す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検証環境を作り、週次でZAPなどによる診断をかける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決済ページのスクリプト変更を検知する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診断ツールの指定先(FQDN・IP・コード)</a:t>
            </a:r>
            <a:endParaRPr lang="en-US" sz="3200" dirty="0"/>
          </a:p>
        </p:txBody>
      </p:sp>
      <p:sp>
        <p:nvSpPr>
          <p:cNvPr id="3" name="target-card-1"/>
          <p:cNvSpPr/>
          <p:nvPr/>
        </p:nvSpPr>
        <p:spPr>
          <a:xfrm>
            <a:off x="54864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arget-head-1"/>
          <p:cNvSpPr/>
          <p:nvPr/>
        </p:nvSpPr>
        <p:spPr>
          <a:xfrm>
            <a:off x="54864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FQDN・URLに対して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https://shop.example.com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Webアプリを調べるツール(OWASP ZAP、Nuclei、Strix)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URLで指定する理由:同じIPの裏に複数のサイトがあり、IPだけでは目的のサイトに届かないことがある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HTTPS証明書やログイン後の画面など、サイト単位の確認もできる</a:t>
            </a:r>
            <a:endParaRPr lang="en-US" sz="1100" dirty="0"/>
          </a:p>
        </p:txBody>
      </p:sp>
      <p:sp>
        <p:nvSpPr>
          <p:cNvPr id="8" name="target-card-2"/>
          <p:cNvSpPr/>
          <p:nvPr/>
        </p:nvSpPr>
        <p:spPr>
          <a:xfrm>
            <a:off x="429768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9" name="target-head-2"/>
          <p:cNvSpPr/>
          <p:nvPr/>
        </p:nvSpPr>
        <p:spPr>
          <a:xfrm>
            <a:off x="429768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IP・ネットワーク範囲に対して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203.0.113.0/24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サーバーやネットワークを調べるツール(Nmap、Nessus、OpenVAS)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開いているポート、動いているサービス、OS・ミドルウェアの既知の脆弱性を見る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ドメイン名を指定しても、内部でIPに変換して調べる</a:t>
            </a:r>
            <a:endParaRPr lang="en-US" sz="1100" dirty="0"/>
          </a:p>
        </p:txBody>
      </p:sp>
      <p:sp>
        <p:nvSpPr>
          <p:cNvPr id="13" name="target-card-3"/>
          <p:cNvSpPr/>
          <p:nvPr/>
        </p:nvSpPr>
        <p:spPr>
          <a:xfrm>
            <a:off x="804672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4" name="target-head-3"/>
          <p:cNvSpPr/>
          <p:nvPr/>
        </p:nvSpPr>
        <p:spPr>
          <a:xfrm>
            <a:off x="804672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コード・設定ファイルに対して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リポジトリ / イメージ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CIで回すSemgrep、gitleaks、Checkov、Trivyなど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ネットワークには接続せず、リポジトリやイメージを直接読む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FQDNもIPも使わない</a:t>
            </a:r>
            <a:endParaRPr lang="en-US" sz="1100" dirty="0"/>
          </a:p>
        </p:txBody>
      </p:sp>
      <p:sp>
        <p:nvSpPr>
          <p:cNvPr id="18" name="target-attacker"/>
          <p:cNvSpPr/>
          <p:nvPr/>
        </p:nvSpPr>
        <p:spPr>
          <a:xfrm>
            <a:off x="548640" y="4297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370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今回の攻撃側のやり方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091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標的は店のサイト(ドメイン)の一覧で、301件を投入。プロキシ経由で、高リスクと判定したものだけをスキャンした。ドメイン単位で入口を探し、見つけた後に内部のIPやサーバー設定へ進む流れ。</a:t>
            </a:r>
            <a:endParaRPr lang="en-US" sz="1100" dirty="0"/>
          </a:p>
        </p:txBody>
      </p:sp>
      <p:sp>
        <p:nvSpPr>
          <p:cNvPr id="21" name="target-defender"/>
          <p:cNvSpPr/>
          <p:nvPr/>
        </p:nvSpPr>
        <p:spPr>
          <a:xfrm>
            <a:off x="6217920" y="429768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370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守る側のコツ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091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ドメインとIPの両方を台帳に持つ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自社ドメインが使うIPを洗い出し、知らないサーバーや開いたままの管理画面がないか確認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忘れられたサブドメイン(古いテスト用など)も対象にする。攻撃側は先に見つける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診断してよい対象は、自社が管理しているものか、書面で許可を得たものだけ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何を診断するか:自社の持ち物の洗い出し方</a:t>
            </a:r>
            <a:endParaRPr lang="en-US" sz="3200" dirty="0"/>
          </a:p>
        </p:txBody>
      </p:sp>
      <p:sp>
        <p:nvSpPr>
          <p:cNvPr id="3" name="asset-concl"/>
          <p:cNvSpPr/>
          <p:nvPr/>
        </p:nvSpPr>
        <p:spPr>
          <a:xfrm>
            <a:off x="548640" y="13716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攻撃側は「忘れられたもの」を先に見つける。守る側も、まず自社が持っているものを漏れなく一覧にする</a:t>
            </a:r>
            <a:endParaRPr lang="en-US" sz="1300" dirty="0"/>
          </a:p>
        </p:txBody>
      </p:sp>
      <p:sp>
        <p:nvSpPr>
          <p:cNvPr id="5" name="asset-label-1"/>
          <p:cNvSpPr/>
          <p:nvPr/>
        </p:nvSpPr>
        <p:spPr>
          <a:xfrm>
            <a:off x="548640" y="2148840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ドメイン・サブドメイン</a:t>
            </a:r>
            <a:endParaRPr lang="en-US" sz="1200" dirty="0"/>
          </a:p>
        </p:txBody>
      </p:sp>
      <p:sp>
        <p:nvSpPr>
          <p:cNvPr id="7" name="asset-body-1"/>
          <p:cNvSpPr/>
          <p:nvPr/>
        </p:nvSpPr>
        <p:spPr>
          <a:xfrm>
            <a:off x="3291840" y="214884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1568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DNS管理画面・クラウドのDNS(Route 53など)の一覧、証明書の公開記録(crt.sh)、subfinder、Amass</a:t>
            </a:r>
            <a:endParaRPr lang="en-US" sz="1050" dirty="0"/>
          </a:p>
        </p:txBody>
      </p:sp>
      <p:sp>
        <p:nvSpPr>
          <p:cNvPr id="9" name="asset-label-2"/>
          <p:cNvSpPr/>
          <p:nvPr/>
        </p:nvSpPr>
        <p:spPr>
          <a:xfrm>
            <a:off x="548640" y="2679192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79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外から見えるIP・ポート</a:t>
            </a:r>
            <a:endParaRPr lang="en-US" sz="1200" dirty="0"/>
          </a:p>
        </p:txBody>
      </p:sp>
      <p:sp>
        <p:nvSpPr>
          <p:cNvPr id="11" name="asset-body-2"/>
          <p:cNvSpPr/>
          <p:nvPr/>
        </p:nvSpPr>
        <p:spPr>
          <a:xfrm>
            <a:off x="3291840" y="2679192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01568" y="2679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クラウドのIP一覧、自社IP範囲へのNmap、Shodan・Censysでの検索</a:t>
            </a:r>
            <a:endParaRPr lang="en-US" sz="1050" dirty="0"/>
          </a:p>
        </p:txBody>
      </p:sp>
      <p:sp>
        <p:nvSpPr>
          <p:cNvPr id="13" name="asset-label-3"/>
          <p:cNvSpPr/>
          <p:nvPr/>
        </p:nvSpPr>
        <p:spPr>
          <a:xfrm>
            <a:off x="548640" y="3209544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095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動いているWebサイト</a:t>
            </a:r>
            <a:endParaRPr lang="en-US" sz="1200" dirty="0"/>
          </a:p>
        </p:txBody>
      </p:sp>
      <p:sp>
        <p:nvSpPr>
          <p:cNvPr id="15" name="asset-body-3"/>
          <p:cNvSpPr/>
          <p:nvPr/>
        </p:nvSpPr>
        <p:spPr>
          <a:xfrm>
            <a:off x="3291840" y="3209544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1568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上の一覧にhttpxなどで接続し、実際に応答するものを確認</a:t>
            </a:r>
            <a:endParaRPr lang="en-US" sz="1050" dirty="0"/>
          </a:p>
        </p:txBody>
      </p:sp>
      <p:sp>
        <p:nvSpPr>
          <p:cNvPr id="17" name="asset-label-4"/>
          <p:cNvSpPr/>
          <p:nvPr/>
        </p:nvSpPr>
        <p:spPr>
          <a:xfrm>
            <a:off x="548640" y="3739896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39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クラウドの資源</a:t>
            </a:r>
            <a:endParaRPr lang="en-US" sz="1200" dirty="0"/>
          </a:p>
        </p:txBody>
      </p:sp>
      <p:sp>
        <p:nvSpPr>
          <p:cNvPr id="19" name="asset-body-4"/>
          <p:cNvSpPr/>
          <p:nvPr/>
        </p:nvSpPr>
        <p:spPr>
          <a:xfrm>
            <a:off x="3291840" y="3739896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37398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AWS Config、Resource Explorer、各クラウドの資産一覧</a:t>
            </a:r>
            <a:endParaRPr lang="en-US" sz="1050" dirty="0"/>
          </a:p>
        </p:txBody>
      </p:sp>
      <p:sp>
        <p:nvSpPr>
          <p:cNvPr id="21" name="asset-label-5"/>
          <p:cNvSpPr/>
          <p:nvPr/>
        </p:nvSpPr>
        <p:spPr>
          <a:xfrm>
            <a:off x="548640" y="4270248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コードのリポジトリ</a:t>
            </a:r>
            <a:endParaRPr lang="en-US" sz="1200" dirty="0"/>
          </a:p>
        </p:txBody>
      </p:sp>
      <p:sp>
        <p:nvSpPr>
          <p:cNvPr id="23" name="asset-body-5"/>
          <p:cNvSpPr/>
          <p:nvPr/>
        </p:nvSpPr>
        <p:spPr>
          <a:xfrm>
            <a:off x="3291840" y="4270248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01568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GitHubなどの組織全体の一覧。古い・使われていないものも含める</a:t>
            </a:r>
            <a:endParaRPr lang="en-US" sz="1050" dirty="0"/>
          </a:p>
        </p:txBody>
      </p:sp>
      <p:sp>
        <p:nvSpPr>
          <p:cNvPr id="25" name="asset-steps"/>
          <p:cNvSpPr/>
          <p:nvPr/>
        </p:nvSpPr>
        <p:spPr>
          <a:xfrm>
            <a:off x="7726680" y="2148840"/>
            <a:ext cx="388620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進め方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606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5420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ドメイン・IP・リポジトリ・クラウド資源を台帳にまとめる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31363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072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台帳にないのに見つかったものを調べる(忘れられたテスト環境、古いサブドメイン)。ここが一番の収穫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366674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36027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各項目に持ち主と診断の種類(コード・ネットワーク・Webアプリ)を割り当てる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1970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41330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新しく作られたものが台帳に入るよう、洗い出しを定期的に繰り返す</a:t>
            </a:r>
            <a:endParaRPr lang="en-US" sz="1050" dirty="0"/>
          </a:p>
        </p:txBody>
      </p:sp>
      <p:sp>
        <p:nvSpPr>
          <p:cNvPr id="35" name="asset-ci"/>
          <p:cNvSpPr/>
          <p:nvPr/>
        </p:nvSpPr>
        <p:spPr>
          <a:xfrm>
            <a:off x="548640" y="489204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CIのツール(Semgrep、gitleaksなど)の標的は「リポジトリ」。組織全体のリポジトリを一覧にして全部に診断を入れ、診断が入っていないものがないか定期的に確認する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洗い出しも診断と同じく、自社が管理しているか、許可を得た範囲だけで行う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事前にやっておくべきだった対処</a:t>
            </a:r>
            <a:endParaRPr lang="en-US" sz="3200" dirty="0"/>
          </a:p>
        </p:txBody>
      </p:sp>
      <p:sp>
        <p:nvSpPr>
          <p:cNvPr id="3" name="action-card-1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決済ページ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CSPで読込元を自社と決済代行に限定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全scriptタグにSRIを付ける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決済は代行業者のiframeに任せる</a:t>
            </a:r>
            <a:endParaRPr lang="en-US" sz="1400" dirty="0"/>
          </a:p>
        </p:txBody>
      </p:sp>
      <p:sp>
        <p:nvSpPr>
          <p:cNvPr id="7" name="action-card-2"/>
          <p:cNvSpPr/>
          <p:nvPr/>
        </p:nvSpPr>
        <p:spPr>
          <a:xfrm>
            <a:off x="429768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配信ファイル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Webルートをアプリから書込不可に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デプロイ時のJSハッシュを毎時照合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差異があれば即座に通知</a:t>
            </a:r>
            <a:endParaRPr lang="en-US" sz="1400" dirty="0"/>
          </a:p>
        </p:txBody>
      </p:sp>
      <p:sp>
        <p:nvSpPr>
          <p:cNvPr id="11" name="action-card-3"/>
          <p:cNvSpPr/>
          <p:nvPr/>
        </p:nvSpPr>
        <p:spPr>
          <a:xfrm>
            <a:off x="804672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コード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SQLはプレースホルダのみ使用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アップロードは拡張子を許可制に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保存先は公開領域の外に置く</a:t>
            </a:r>
            <a:endParaRPr lang="en-US" sz="1400" dirty="0"/>
          </a:p>
        </p:txBody>
      </p:sp>
      <p:sp>
        <p:nvSpPr>
          <p:cNvPr id="15" name="action-card-4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認証と管理画面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OTPはハッシュ保存、5分で失効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試行回数を制限し、超過でロック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管理画面はVPNかIP制限の内側に</a:t>
            </a:r>
            <a:endParaRPr lang="en-US" sz="1400" dirty="0"/>
          </a:p>
        </p:txBody>
      </p:sp>
      <p:sp>
        <p:nvSpPr>
          <p:cNvPr id="19" name="action-card-5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サーバとクラウド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sudoersのNOPASSWDを削除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NFSでno_root_squashを使わない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Secretsは用途別に最小権限で許可</a:t>
            </a:r>
            <a:endParaRPr lang="en-US" sz="1400" dirty="0"/>
          </a:p>
        </p:txBody>
      </p:sp>
      <p:sp>
        <p:nvSpPr>
          <p:cNvPr id="23" name="action-card-6"/>
          <p:cNvSpPr/>
          <p:nvPr/>
        </p:nvSpPr>
        <p:spPr>
          <a:xfrm>
            <a:off x="804672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備えと検知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バックアップを別アカウントへ複製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削除不可設定(Object Lock等)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新規管理者作成と鍵の大量取得を通知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優先度ロードマップ</a:t>
            </a:r>
            <a:endParaRPr lang="en-US" sz="3200" dirty="0"/>
          </a:p>
        </p:txBody>
      </p:sp>
      <p:sp>
        <p:nvSpPr>
          <p:cNvPr id="3" name="roadmap-col-1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roadmap-chip-1"/>
          <p:cNvSpPr/>
          <p:nvPr/>
        </p:nvSpPr>
        <p:spPr>
          <a:xfrm>
            <a:off x="777240" y="169164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今週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決済ページのスクリプトを棚卸しし、CSP・SRIを導入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管理画面の公開範囲とMFAを確認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Gambit公開のIOCを照合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バックアップの分離状況を確認</a:t>
            </a:r>
            <a:endParaRPr lang="en-US" sz="1400" dirty="0"/>
          </a:p>
        </p:txBody>
      </p:sp>
      <p:sp>
        <p:nvSpPr>
          <p:cNvPr id="7" name="roadmap-col-2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8" name="roadmap-chip-2"/>
          <p:cNvSpPr/>
          <p:nvPr/>
        </p:nvSpPr>
        <p:spPr>
          <a:xfrm>
            <a:off x="4526280" y="169164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今月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ステージングでAI診断を実施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SQLi・アップロードなど既知パターンを修正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IAM・sudo・秘密情報を棚卸し</a:t>
            </a:r>
            <a:endParaRPr lang="en-US" sz="1400" dirty="0"/>
          </a:p>
        </p:txBody>
      </p:sp>
      <p:sp>
        <p:nvSpPr>
          <p:cNvPr id="11" name="roadmap-col-3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roadmap-chip-3"/>
          <p:cNvSpPr/>
          <p:nvPr/>
        </p:nvSpPr>
        <p:spPr>
          <a:xfrm>
            <a:off x="8275320" y="169164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四半期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カード情報のトークン化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CI/CDに自動診断を組み込み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最小事業単位での復旧訓練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自動検知・自動対応の整備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数字の見方と報道の論点</a:t>
            </a:r>
            <a:endParaRPr lang="en-US" sz="3200" dirty="0"/>
          </a:p>
        </p:txBody>
      </p:sp>
      <p:sp>
        <p:nvSpPr>
          <p:cNvPr id="3" name="number-card-1"/>
          <p:cNvSpPr/>
          <p:nvPr/>
        </p:nvSpPr>
        <p:spPr>
          <a:xfrm>
            <a:off x="548640" y="1463040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60万件超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463040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盗まれたカード情報(2社)。米国発行は488,372件(79%)</a:t>
            </a:r>
            <a:endParaRPr lang="en-US" sz="1400" dirty="0"/>
          </a:p>
        </p:txBody>
      </p:sp>
      <p:sp>
        <p:nvSpPr>
          <p:cNvPr id="6" name="number-card-2"/>
          <p:cNvSpPr/>
          <p:nvPr/>
        </p:nvSpPr>
        <p:spPr>
          <a:xfrm>
            <a:off x="548640" y="2633472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334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27社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633472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Gambitが名指しした標的企業</a:t>
            </a:r>
            <a:endParaRPr lang="en-US" sz="1400" dirty="0"/>
          </a:p>
        </p:txBody>
      </p:sp>
      <p:sp>
        <p:nvSpPr>
          <p:cNvPr id="9" name="number-card-3"/>
          <p:cNvSpPr/>
          <p:nvPr/>
        </p:nvSpPr>
        <p:spPr>
          <a:xfrm>
            <a:off x="548640" y="3803904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03904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19社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80390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27社のうち、スキマー設置を確認できた企業</a:t>
            </a:r>
            <a:endParaRPr lang="en-US" sz="1400" dirty="0"/>
          </a:p>
        </p:txBody>
      </p:sp>
      <p:sp>
        <p:nvSpPr>
          <p:cNvPr id="12" name="number-card-4"/>
          <p:cNvSpPr/>
          <p:nvPr/>
        </p:nvSpPr>
        <p:spPr>
          <a:xfrm>
            <a:off x="548640" y="4974336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74336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119サイト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974336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BleepingComputerの数。19社に加え、別に100超のサイトで感染を検出</a:t>
            </a:r>
            <a:endParaRPr lang="en-US" sz="1400" dirty="0"/>
          </a:p>
        </p:txBody>
      </p:sp>
      <p:sp>
        <p:nvSpPr>
          <p:cNvPr id="15" name="rw-card"/>
          <p:cNvSpPr/>
          <p:nvPr/>
        </p:nvSpPr>
        <p:spPr>
          <a:xfrm>
            <a:off x="6583680" y="1463040"/>
            <a:ext cx="5029200" cy="45720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RuntimeWireの論点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Gambitは自社製品が扱う問題を実証する立場で、利益相反の可能性がある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数は直接証拠・実在確認・エージェントのログの混合で、完全な集計ではない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暫定報告で、実際の規模はより大きい可能性がある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被害企業名と最終的な感染サイト数は未公表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示唆:バックアップの有無でなく、復旧できるか・どれだけ速いか・いくらかかるかを測る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3つの情報源の違い</a:t>
            </a:r>
            <a:endParaRPr lang="en-US" sz="3200" dirty="0"/>
          </a:p>
        </p:txBody>
      </p:sp>
      <p:sp>
        <p:nvSpPr>
          <p:cNvPr id="3" name="source-card-1"/>
          <p:cNvSpPr/>
          <p:nvPr/>
        </p:nvSpPr>
        <p:spPr>
          <a:xfrm>
            <a:off x="54864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Gambit Security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一次情報(原文)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攻撃基盤サーバーの回収をもとに再構築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侵入の連鎖、スキマーの設置方法、IOCを掲載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証拠は3区分:サーバー上の直接証拠、実在確認、AIのログ</a:t>
            </a:r>
            <a:endParaRPr lang="en-US" sz="1400" dirty="0"/>
          </a:p>
        </p:txBody>
      </p:sp>
      <p:sp>
        <p:nvSpPr>
          <p:cNvPr id="8" name="source-card-2"/>
          <p:cNvSpPr/>
          <p:nvPr/>
        </p:nvSpPr>
        <p:spPr>
          <a:xfrm>
            <a:off x="429768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BleepingComputer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報道による要約と周知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119サイトの感染を報道(Gambitは19社+100超)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Cairnは、Cisco Talosが前日公開した同名のAI解析ツールとは別物と注記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低コスト化で参入障壁が下がると警告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防御策の追加はなし</a:t>
            </a:r>
            <a:endParaRPr lang="en-US" sz="1400" dirty="0"/>
          </a:p>
        </p:txBody>
      </p:sp>
      <p:sp>
        <p:nvSpPr>
          <p:cNvPr id="13" name="source-card-3"/>
          <p:cNvSpPr/>
          <p:nvPr/>
        </p:nvSpPr>
        <p:spPr>
          <a:xfrm>
            <a:off x="804672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RuntimeWire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数字の整理と批評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27社・19社・119サイトの関係を整理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Gambitの立場と、報告が暫定である点を指摘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復旧できるか、速さ、費用を測るべきと提言</a:t>
            </a:r>
            <a:endParaRPr lang="en-US" sz="1400" dirty="0"/>
          </a:p>
        </p:txBody>
      </p:sp>
      <p:sp>
        <p:nvSpPr>
          <p:cNvPr id="18" name="source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3つとも出発点はGambitの調査。独立した裏付け調査ではない点に注意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この資料の限界と出典</a:t>
            </a:r>
            <a:endParaRPr lang="en-US" sz="3200" dirty="0"/>
          </a:p>
        </p:txBody>
      </p:sp>
      <p:sp>
        <p:nvSpPr>
          <p:cNvPr id="3" name="limits-card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限界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調査範囲は3リポジトリのREADME・AGENTS.mdと公開レポート。加えてStrixはコードの一部(agents_graph、システムプロンプト)、Cairnは設計書を確認。ツールの実行や全体の解析はしていない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Gambitは防御製品のベンダーで、結論に立場が反映されうる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119サイト(BleepingComputer)はスキマー感染サイト数。27社・19社(Gambit)とは別の集計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AIのログや主張には未検証の部分がある</a:t>
            </a:r>
            <a:endParaRPr lang="en-US" sz="1400" dirty="0"/>
          </a:p>
        </p:txBody>
      </p:sp>
      <p:sp>
        <p:nvSpPr>
          <p:cNvPr id="6" name="sources-card"/>
          <p:cNvSpPr/>
          <p:nvPr/>
        </p:nvSpPr>
        <p:spPr>
          <a:xfrm>
            <a:off x="6309360" y="146304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出典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Gambit Security(原文レポート)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gambit.security/blog-posts/autonomous-ai-agents-online-retailers-25-a-company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Gambit Security(Cyber Resilience記事・復旧力の考え方)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gambit.security/blog-posts/what-is-cyber-resilience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BleepingComputer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bleepingcomputer.com/news/security/malicious-ai-agents-steal-600k-credit-cards-infect-100-plus-sites-with-skimmers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RuntimeWire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runtimewire.com/article/gambit-ai-agents-credit-card-skimmers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Cloud Security Alliance(PCI DSS 6.4.3・11.6.1)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cloudsecurityalliance.org/blog/2026/07/23/pci-dss-6-4-3-and-11-6-1-a-deep-dive-…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Cloudflare(Client-side Security)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developers.cloudflare.com/page-shield/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GitHub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github.com/usestrix/strix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github.com/oritera/Cairn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github.com/NousResearch/hermes-agent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付録1 経緯と協力機関</a:t>
            </a:r>
            <a:endParaRPr lang="en-US" sz="3200" dirty="0"/>
          </a:p>
        </p:txBody>
      </p:sp>
      <p:sp>
        <p:nvSpPr>
          <p:cNvPr id="3" name="timeline-1"/>
          <p:cNvSpPr/>
          <p:nvPr/>
        </p:nvSpPr>
        <p:spPr>
          <a:xfrm>
            <a:off x="54864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2026年7月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キャンペーン開始(Gambit推定)。以降、数十社以上に影響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090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timeline-2"/>
          <p:cNvSpPr/>
          <p:nvPr/>
        </p:nvSpPr>
        <p:spPr>
          <a:xfrm>
            <a:off x="278892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8月23〜31日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Strixを146回、138ホストに対し深いモードで実行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0118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timeline-3"/>
          <p:cNvSpPr/>
          <p:nvPr/>
        </p:nvSpPr>
        <p:spPr>
          <a:xfrm>
            <a:off x="502920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8月25日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OpenRouterの残高を確認。4週間で7,005.71ドルを消費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4146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timeline-4"/>
          <p:cNvSpPr/>
          <p:nvPr/>
        </p:nvSpPr>
        <p:spPr>
          <a:xfrm>
            <a:off x="726948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236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9月10〜15日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Cairnが105案件を実行し、27社以上に侵入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174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timeline-5"/>
          <p:cNvSpPr/>
          <p:nvPr/>
        </p:nvSpPr>
        <p:spPr>
          <a:xfrm>
            <a:off x="950976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9月22日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Gambitが報告を公表。攻撃は現在も継続中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協力機関と役割</a:t>
            </a:r>
            <a:endParaRPr lang="en-US" sz="1600" dirty="0"/>
          </a:p>
        </p:txBody>
      </p:sp>
      <p:sp>
        <p:nvSpPr>
          <p:cNvPr id="28" name="partner-1"/>
          <p:cNvSpPr/>
          <p:nvPr/>
        </p:nvSpPr>
        <p:spPr>
          <a:xfrm>
            <a:off x="548640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Shadowserver Foundation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被害企業への通知と、攻撃基盤の停止に協力</a:t>
            </a:r>
            <a:endParaRPr lang="en-US" sz="1200" dirty="0"/>
          </a:p>
        </p:txBody>
      </p:sp>
      <p:sp>
        <p:nvSpPr>
          <p:cNvPr id="31" name="partner-2"/>
          <p:cNvSpPr/>
          <p:nvPr/>
        </p:nvSpPr>
        <p:spPr>
          <a:xfrm>
            <a:off x="3353105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35985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Daniel Gordon ほか業界の協力者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35985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通知と調査に協力</a:t>
            </a:r>
            <a:endParaRPr lang="en-US" sz="1200" dirty="0"/>
          </a:p>
        </p:txBody>
      </p:sp>
      <p:sp>
        <p:nvSpPr>
          <p:cNvPr id="34" name="partner-3"/>
          <p:cNvSpPr/>
          <p:nvPr/>
        </p:nvSpPr>
        <p:spPr>
          <a:xfrm>
            <a:off x="6157570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40450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Overwatch Data(不正対策企業)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340450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盗まれたカードを処理し、発行会社に通知</a:t>
            </a:r>
            <a:endParaRPr lang="en-US" sz="1200" dirty="0"/>
          </a:p>
        </p:txBody>
      </p:sp>
      <p:sp>
        <p:nvSpPr>
          <p:cNvPr id="37" name="partner-4"/>
          <p:cNvSpPr/>
          <p:nvPr/>
        </p:nvSpPr>
        <p:spPr>
          <a:xfrm>
            <a:off x="8962034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914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Varys(セキュリティ研究者)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144914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100超の感染サイトの検出を支援</a:t>
            </a:r>
            <a:endParaRPr lang="en-US" sz="1200" dirty="0"/>
          </a:p>
        </p:txBody>
      </p:sp>
      <p:sp>
        <p:nvSpPr>
          <p:cNvPr id="40" name="partner-note"/>
          <p:cNvSpPr/>
          <p:nvPr/>
        </p:nvSpPr>
        <p:spPr>
          <a:xfrm>
            <a:off x="548640" y="5623560"/>
            <a:ext cx="110642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Gambitは被害企業の多くに連絡し、発見した攻撃インフラの停止措置も実施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原文レポート(2026年9月22日)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付録2 規模・コスト・被害企業の詳細</a:t>
            </a:r>
            <a:endParaRPr lang="en-US" sz="3200" dirty="0"/>
          </a:p>
        </p:txBody>
      </p:sp>
      <p:sp>
        <p:nvSpPr>
          <p:cNvPr id="3" name="scale-card-1"/>
          <p:cNvSpPr/>
          <p:nvPr/>
        </p:nvSpPr>
        <p:spPr>
          <a:xfrm>
            <a:off x="54864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105件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Cairnの攻撃案件(9/10〜15)</a:t>
            </a:r>
            <a:endParaRPr lang="en-US" sz="1200" dirty="0"/>
          </a:p>
        </p:txBody>
      </p:sp>
      <p:sp>
        <p:nvSpPr>
          <p:cNvPr id="6" name="scale-card-2"/>
          <p:cNvSpPr/>
          <p:nvPr/>
        </p:nvSpPr>
        <p:spPr>
          <a:xfrm>
            <a:off x="429768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48件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分析できた案件。残り57件は削除済み</a:t>
            </a:r>
            <a:endParaRPr lang="en-US" sz="1200" dirty="0"/>
          </a:p>
        </p:txBody>
      </p:sp>
      <p:sp>
        <p:nvSpPr>
          <p:cNvPr id="9" name="scale-card-3"/>
          <p:cNvSpPr/>
          <p:nvPr/>
        </p:nvSpPr>
        <p:spPr>
          <a:xfrm>
            <a:off x="804672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27社以上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侵入を確認(程度はさまざま)</a:t>
            </a:r>
            <a:endParaRPr lang="en-US" sz="1200" dirty="0"/>
          </a:p>
        </p:txBody>
      </p:sp>
      <p:sp>
        <p:nvSpPr>
          <p:cNvPr id="12" name="scale-card-4"/>
          <p:cNvSpPr/>
          <p:nvPr/>
        </p:nvSpPr>
        <p:spPr>
          <a:xfrm>
            <a:off x="54864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5社 / 19社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スキマー設置の確認数。報告の冒頭は5社、後段では27社中19社と記載</a:t>
            </a:r>
            <a:endParaRPr lang="en-US" sz="1200" dirty="0"/>
          </a:p>
        </p:txBody>
      </p:sp>
      <p:sp>
        <p:nvSpPr>
          <p:cNvPr id="15" name="scale-card-5"/>
          <p:cNvSpPr/>
          <p:nvPr/>
        </p:nvSpPr>
        <p:spPr>
          <a:xfrm>
            <a:off x="429768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$25.46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101スキャンの平均コスト($3.13〜$79.31)</a:t>
            </a:r>
            <a:endParaRPr lang="en-US" sz="1200" dirty="0"/>
          </a:p>
        </p:txBody>
      </p:sp>
      <p:sp>
        <p:nvSpPr>
          <p:cNvPr id="18" name="scale-card-6"/>
          <p:cNvSpPr/>
          <p:nvPr/>
        </p:nvSpPr>
        <p:spPr>
          <a:xfrm>
            <a:off x="804672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$12,000〜18,000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全体費用の推定。4週間で7,005.71ドル、その後3週間は倍の利用量</a:t>
            </a:r>
            <a:endParaRPr lang="en-US" sz="1200" dirty="0"/>
          </a:p>
        </p:txBody>
      </p:sp>
      <p:sp>
        <p:nvSpPr>
          <p:cNvPr id="21" name="victims-card"/>
          <p:cNvSpPr/>
          <p:nvPr/>
        </p:nvSpPr>
        <p:spPr>
          <a:xfrm>
            <a:off x="548640" y="429768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影響を受けた企業の種類(ある程度のアクセスを得たと報告)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Fortune 500の宿泊業企業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米国の大手航空会社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米国の非公開の大手産業用品流通業者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米国のオンラインアパレル小売業者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原文レポート(2026年9月22日)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付録3 標的の選び方</a:t>
            </a:r>
            <a:endParaRPr lang="en-US" sz="3200" dirty="0"/>
          </a:p>
        </p:txBody>
      </p:sp>
      <p:sp>
        <p:nvSpPr>
          <p:cNvPr id="3" name="select-step-1"/>
          <p:cNvSpPr/>
          <p:nvPr/>
        </p:nvSpPr>
        <p:spPr>
          <a:xfrm>
            <a:off x="54864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通販カテゴリを抽出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ウェブのトラフィック順位サービスで、ショッピング分野を選ぶ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4553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select-step-2"/>
          <p:cNvSpPr/>
          <p:nvPr/>
        </p:nvSpPr>
        <p:spPr>
          <a:xfrm>
            <a:off x="338328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主要プラットフォームを除外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商用・オープンソースの大手プラットフォームの店は外す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select-step-3"/>
          <p:cNvSpPr/>
          <p:nvPr/>
        </p:nvSpPr>
        <p:spPr>
          <a:xfrm>
            <a:off x="621792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独自コードの店を残す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攻撃者は、独自開発のほうが脆弱だと見込んだ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1481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select-step-4"/>
          <p:cNvSpPr/>
          <p:nvPr/>
        </p:nvSpPr>
        <p:spPr>
          <a:xfrm>
            <a:off x="905256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一括して実行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301件を投入。プロキシ経由で、高リスクのみスキャン</a:t>
            </a:r>
            <a:endParaRPr lang="en-US" sz="1200" dirty="0"/>
          </a:p>
        </p:txBody>
      </p:sp>
      <p:sp>
        <p:nvSpPr>
          <p:cNvPr id="22" name="select-other"/>
          <p:cNvSpPr/>
          <p:nvPr/>
        </p:nvSpPr>
        <p:spPr>
          <a:xfrm>
            <a:off x="54864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ほかの選び方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手作業で選んだ標的もある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ニュージーランドの小売業者と米国のフォト印刷会社は、動作する管理者パスワードをAIに渡し、「開始」と指示</a:t>
            </a:r>
            <a:endParaRPr lang="en-US" sz="1400" dirty="0"/>
          </a:p>
        </p:txBody>
      </p:sp>
      <p:sp>
        <p:nvSpPr>
          <p:cNvPr id="25" name="select-implication"/>
          <p:cNvSpPr/>
          <p:nvPr/>
        </p:nvSpPr>
        <p:spPr>
          <a:xfrm>
            <a:off x="621792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防御側への示唆(本資料の整理)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独自開発の部分ほど、先に自社で診断する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管理者パスワードが漏れていないか、使い回しがないかを確認する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原文レポート(2026年9月22日)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付録4 カード発行国の内訳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us-card"/>
          <p:cNvSpPr/>
          <p:nvPr/>
        </p:nvSpPr>
        <p:spPr>
          <a:xfrm>
            <a:off x="795528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838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米国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488,372件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全体(60万件超)の79.0%</a:t>
            </a:r>
            <a:endParaRPr lang="en-US" sz="1400" dirty="0"/>
          </a:p>
        </p:txBody>
      </p:sp>
      <p:sp>
        <p:nvSpPr>
          <p:cNvPr id="8" name="country-note"/>
          <p:cNvSpPr/>
          <p:nvPr/>
        </p:nvSpPr>
        <p:spPr>
          <a:xfrm>
            <a:off x="7955280" y="3749040"/>
            <a:ext cx="3657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83880" y="39319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盗まれたカードは2社分で、発行国は200か国超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Gambitは不正対策企業のOverwatch Dataと組み、カード発行会社に通知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原文レポート(2026年9月22日)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付録5 データ消去と、その副作用</a:t>
            </a:r>
            <a:endParaRPr lang="en-US" sz="3200" dirty="0"/>
          </a:p>
        </p:txBody>
      </p:sp>
      <p:sp>
        <p:nvSpPr>
          <p:cNvPr id="3" name="wipe-playbook"/>
          <p:cNvSpPr/>
          <p:nvPr/>
        </p:nvSpPr>
        <p:spPr>
          <a:xfrm>
            <a:off x="54864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攻撃者の手順書にあった消去工程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カード情報を抽出して持ち出した後、元のデータ欄を分割して消去する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数百万行のテーブルを想定した手順になっている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消去後に確認用の検索を再実行し、残りが0件か確認する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実際の指示では、決済関連の2テーブルについて、まず列を空にする指示を出し、のち「写し取ってから空にする」に変更</a:t>
            </a:r>
            <a:endParaRPr lang="en-US" sz="1200" dirty="0"/>
          </a:p>
        </p:txBody>
      </p:sp>
      <p:sp>
        <p:nvSpPr>
          <p:cNvPr id="6" name="wipe-accident"/>
          <p:cNvSpPr/>
          <p:nvPr/>
        </p:nvSpPr>
        <p:spPr>
          <a:xfrm>
            <a:off x="621792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AIの後片付けによる事故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自転車の小売店で、エージェントが作業用に「ZQ」で始まるテーブルを作成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後片付けで、名前に「ZQ」または「Backup」を含む180テーブルを削除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管理者が作っていたバックアップ用のテーブルも消えた</a:t>
            </a:r>
            <a:endParaRPr lang="en-US" sz="1200" dirty="0"/>
          </a:p>
        </p:txBody>
      </p:sp>
      <p:sp>
        <p:nvSpPr>
          <p:cNvPr id="9" name="wipe-takeaway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データ消失は、恐喝ではなく、他人の後片付けの副作用として起こりうる。バックアップは本番と別の場所に隔離し、復旧を訓練しておく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原文レポート(2026年9月22日)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付録6 統計とGambitの提言</a:t>
            </a:r>
            <a:endParaRPr lang="en-US" sz="3200" dirty="0"/>
          </a:p>
        </p:txBody>
      </p:sp>
      <p:sp>
        <p:nvSpPr>
          <p:cNvPr id="3" name="stat2-1"/>
          <p:cNvSpPr/>
          <p:nvPr/>
        </p:nvSpPr>
        <p:spPr>
          <a:xfrm>
            <a:off x="548640" y="137160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月600件超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主要ソフトウェアベンダー全体で報告された重大な脆弱性の数</a:t>
            </a:r>
            <a:endParaRPr lang="en-US" sz="1200" dirty="0"/>
          </a:p>
        </p:txBody>
      </p:sp>
      <p:sp>
        <p:nvSpPr>
          <p:cNvPr id="6" name="stat2-2"/>
          <p:cNvSpPr/>
          <p:nvPr/>
        </p:nvSpPr>
        <p:spPr>
          <a:xfrm>
            <a:off x="548640" y="288036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約87%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実際に悪用された欠陥のうち、公開当日かそれ以前に攻撃されたもの</a:t>
            </a:r>
            <a:endParaRPr lang="en-US" sz="1200" dirty="0"/>
          </a:p>
        </p:txBody>
      </p:sp>
      <p:sp>
        <p:nvSpPr>
          <p:cNvPr id="9" name="stat2-3"/>
          <p:cNvSpPr/>
          <p:nvPr/>
        </p:nvSpPr>
        <p:spPr>
          <a:xfrm>
            <a:off x="548640" y="438912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週単位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66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複雑な環境で、修復にかかる時間</a:t>
            </a:r>
            <a:endParaRPr lang="en-US" sz="1200" dirty="0"/>
          </a:p>
        </p:txBody>
      </p:sp>
      <p:sp>
        <p:nvSpPr>
          <p:cNvPr id="12" name="rec-card"/>
          <p:cNvSpPr/>
          <p:nvPr/>
        </p:nvSpPr>
        <p:spPr>
          <a:xfrm>
            <a:off x="5577840" y="1371600"/>
            <a:ext cx="6035040" cy="438912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Gambitの提言:復旧力を指標にする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0574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パッチを当てる速さだけでは足りない。サービスをどれだけ早く戻せるかを測る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「最小限の事業単位」を決める。収益を回すために必要な、最小の系統のこと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アプリ担当、インフラ担当、委託先の全員で合意し、その系統が実際に戻ることを確認する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「データベースを戻した」で終わる復旧計画では足りない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注:Gambitは復旧・レジリエンス分野の企業で、提言には立場が反映されうる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原文レポート。統計はa16zの資料をGambitが引用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付録7 IOC一覧(攻撃の痕跡の指標)</a:t>
            </a:r>
            <a:endParaRPr lang="en-US" sz="3200" dirty="0"/>
          </a:p>
        </p:txBody>
      </p:sp>
      <p:sp>
        <p:nvSpPr>
          <p:cNvPr id="3" name="ioc-ip"/>
          <p:cNvSpPr/>
          <p:nvPr/>
        </p:nvSpPr>
        <p:spPr>
          <a:xfrm>
            <a:off x="548640" y="13716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IPアドレス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指令・AIコンソール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155.254.22.215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DNS流出・HTTP待受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209.126.4.170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C2(遠隔操作)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213.21.239.62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172.245.224.188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スキマー配信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172.245.89.137</a:t>
            </a:r>
            <a:endParaRPr lang="en-US" sz="1100" dirty="0"/>
          </a:p>
        </p:txBody>
      </p:sp>
      <p:sp>
        <p:nvSpPr>
          <p:cNvPr id="6" name="ioc-domain"/>
          <p:cNvSpPr/>
          <p:nvPr/>
        </p:nvSpPr>
        <p:spPr>
          <a:xfrm>
            <a:off x="4023360" y="1371600"/>
            <a:ext cx="3566160" cy="3611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ドメイン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8745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運用・C2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medbooksource[.]com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traffic-analyzer[.]net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スキマー配信元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b8t[.]shop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js-static[.]com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jsnetlify[.]com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netlifyjs[.]com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newssjs[.]com</a:t>
            </a:r>
            <a:endParaRPr lang="en-US" sz="1100" dirty="0"/>
          </a:p>
        </p:txBody>
      </p:sp>
      <p:sp>
        <p:nvSpPr>
          <p:cNvPr id="9" name="ioc-url"/>
          <p:cNvSpPr/>
          <p:nvPr/>
        </p:nvSpPr>
        <p:spPr>
          <a:xfrm>
            <a:off x="7772400" y="1371600"/>
            <a:ext cx="384048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スキマーのURL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87452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b8t[.]shop/js/sby.js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cdn[.]netlfjs[.]com/js/cts.js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cdn[.]netlfjs[.]com/js/vla.js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x1opay[.]co/js/eut.js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x1opay[.]co/js/l.js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static-js[.]com/js/bmws.js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static-js[.]com/js/nrt.js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cdn[.]js-static[.]com/js/tgo.js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cdn[.]js-static[.]com/js/pps.js</a:t>
            </a:r>
            <a:endParaRPr lang="en-US" sz="1100" dirty="0"/>
          </a:p>
        </p:txBody>
      </p:sp>
      <p:sp>
        <p:nvSpPr>
          <p:cNvPr id="12" name="ioc-method"/>
          <p:cNvSpPr/>
          <p:nvPr/>
        </p:nvSpPr>
        <p:spPr>
          <a:xfrm>
            <a:off x="548640" y="5120640"/>
            <a:ext cx="70408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1846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挿入コードの特徴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589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Function(atob('&lt;ランダム&gt;...'.slice(7)))()  先頭に7文字のダミーを付けたbase64</a:t>
            </a:r>
            <a:endParaRPr lang="en-US" sz="1100" dirty="0"/>
          </a:p>
        </p:txBody>
      </p:sp>
      <p:sp>
        <p:nvSpPr>
          <p:cNvPr id="15" name="ioc-proxy"/>
          <p:cNvSpPr/>
          <p:nvPr/>
        </p:nvSpPr>
        <p:spPr>
          <a:xfrm>
            <a:off x="7772400" y="512064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5184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攻撃に使われたプロキシ事業者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5458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IPRoyal / 711proxy / 1024proxy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出典:Gambit Security 原文レポート。[.]は無害化表記。アクセスせず、ログやDNSとの照合にだけ使う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at Analysis">
  <a:themeElements>
    <a:clrScheme name="Threat Analysis">
      <a:dk1>
        <a:srgbClr val="1B1F23"/>
      </a:dk1>
      <a:lt1>
        <a:srgbClr val="FFFFFF"/>
      </a:lt1>
      <a:dk2>
        <a:srgbClr val="2B3A42"/>
      </a:dk2>
      <a:lt2>
        <a:srgbClr val="EEF1F2"/>
      </a:lt2>
      <a:accent1>
        <a:srgbClr val="C8431F"/>
      </a:accent1>
      <a:accent2>
        <a:srgbClr val="0F7F76"/>
      </a:accent2>
      <a:accent3>
        <a:srgbClr val="E0A030"/>
      </a:accent3>
      <a:accent4>
        <a:srgbClr val="5B6C75"/>
      </a:accent4>
      <a:accent5>
        <a:srgbClr val="7A9E9F"/>
      </a:accent5>
      <a:accent6>
        <a:srgbClr val="B5C0C5"/>
      </a:accent6>
      <a:hlink>
        <a:srgbClr val="0F7F76"/>
      </a:hlink>
      <a:folHlink>
        <a:srgbClr val="5B6C75"/>
      </a:folHlink>
    </a:clrScheme>
    <a:fontScheme name="Threat Analysis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AIエージェント型攻撃ツールの構造と防御</dc:title>
  <dc:subject>PptxGenJS Presentation</dc:subject>
  <dc:creator>PptxGenJS</dc:creator>
  <cp:lastModifiedBy>PptxGenJS</cp:lastModifiedBy>
  <cp:revision>1</cp:revision>
  <dcterms:created xsi:type="dcterms:W3CDTF">2026-10-05T17:58:31Z</dcterms:created>
  <dcterms:modified xsi:type="dcterms:W3CDTF">2026-10-05T17:58:31Z</dcterms:modified>
</cp:coreProperties>
</file>
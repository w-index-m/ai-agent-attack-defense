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d71cea9-c37c-f278-0b9e-f45a102cc881}">
          <p14:sldIdLst>
            <p14:sldId id="256"/>
            <p14:sldId id="257"/>
            <p14:sldId id="258"/>
            <p14:sldId id="259"/>
          </p14:sldIdLst>
        </p14:section>
        <p14:section name="Tool structure" id="{0d2930b6-999d-1880-8c30-cc4077568d8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efense" id="{d3365b5e-713c-98b0-bba9-e7b01738ca19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Wrap-up" id="{cf16b5ad-0503-ef98-c3a4-8cb895bb0c05}">
          <p14:sldIdLst>
            <p14:sldId id="283"/>
            <p14:sldId id="284"/>
            <p14:sldId id="285"/>
          </p14:sldIdLst>
        </p14:section>
        <p14:section name="Appendix" id="{040e2bf9-8c77-1872-2a2d-7c5f9f223a6f}">
          <p14:sldIdLst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3"/>
                </a:solidFill>
                <a:latin typeface="+mn-lt"/>
              </a:rPr>
              <a:t>Cards by issuing country (excluding US)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Cards</c:v>
                </c:pt>
              </c:strCache>
            </c:strRef>
          </c:tx>
          <c:spPr>
            <a:solidFill>
              <a:srgbClr val="0F7F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UAE</c:v>
                  </c:pt>
                  <c:pt idx="1">
                    <c:v>Saudi Arabia</c:v>
                  </c:pt>
                  <c:pt idx="2">
                    <c:v>UK</c:v>
                  </c:pt>
                  <c:pt idx="3">
                    <c:v>New Zealand</c:v>
                  </c:pt>
                  <c:pt idx="4">
                    <c:v>Ireland</c:v>
                  </c:pt>
                  <c:pt idx="5">
                    <c:v>Singapore</c:v>
                  </c:pt>
                  <c:pt idx="6">
                    <c:v>Kuwait</c:v>
                  </c:pt>
                  <c:pt idx="7">
                    <c:v>Australia</c:v>
                  </c:pt>
                  <c:pt idx="8">
                    <c:v>Hong Kong</c:v>
                  </c:pt>
                  <c:pt idx="9">
                    <c:v>France</c:v>
                  </c:pt>
                  <c:pt idx="10">
                    <c:v>Qatar</c:v>
                  </c:pt>
                  <c:pt idx="11">
                    <c:v>Other 196 countries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13559</c:v>
                </c:pt>
                <c:pt idx="1">
                  <c:v>6785</c:v>
                </c:pt>
                <c:pt idx="2">
                  <c:v>6522</c:v>
                </c:pt>
                <c:pt idx="3">
                  <c:v>5710</c:v>
                </c:pt>
                <c:pt idx="4">
                  <c:v>5483</c:v>
                </c:pt>
                <c:pt idx="5">
                  <c:v>5305</c:v>
                </c:pt>
                <c:pt idx="6">
                  <c:v>4676</c:v>
                </c:pt>
                <c:pt idx="7">
                  <c:v>4672</c:v>
                </c:pt>
                <c:pt idx="8">
                  <c:v>4459</c:v>
                </c:pt>
                <c:pt idx="9">
                  <c:v>4295</c:v>
                </c:pt>
                <c:pt idx="10">
                  <c:v>4075</c:v>
                </c:pt>
                <c:pt idx="11">
                  <c:v>64025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</c:scaling>
        <c:delete val="0"/>
        <c:axPos val="b"/>
        <c:majorGridlines>
          <c:spPr>
            <a:ln w="6350" cap="flat">
              <a:solidFill>
                <a:srgbClr val="E1E5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C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Hermes / Strix / Cairn  Structure and Defense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Structure and Defense Against AI-Agent Attack Tools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Hermes / Strix / Cairn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Summary of the Gambit Security report (Sept 22, 2026)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October 6,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146304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Strix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306324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Cairn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46634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Hermes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Basics: What is an AI harness?</a:t>
            </a:r>
            <a:endParaRPr lang="en-US" sz="3200" dirty="0"/>
          </a:p>
        </p:txBody>
      </p:sp>
      <p:sp>
        <p:nvSpPr>
          <p:cNvPr id="3" name="harness-def"/>
          <p:cNvSpPr/>
          <p:nvPr/>
        </p:nvSpPr>
        <p:spPr>
          <a:xfrm>
            <a:off x="548640" y="13716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 AI harness is the whole set of surrounding machinery that turns an AI model (the brain) into something that can actually get work done</a:t>
            </a:r>
            <a:endParaRPr lang="en-US" sz="1500" dirty="0"/>
          </a:p>
        </p:txBody>
      </p:sp>
      <p:sp>
        <p:nvSpPr>
          <p:cNvPr id="5" name="harness-analogy"/>
          <p:cNvSpPr/>
          <p:nvPr/>
        </p:nvSpPr>
        <p:spPr>
          <a:xfrm>
            <a:off x="548640" y="2286000"/>
            <a:ext cx="3657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Analogy: horse and harness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word comes from the gear put on a horse. A strong horse (the AI model) still cannot pull a cart or choose a direction without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model alone only returns text. With a harness it can search, write files, run commands, look at the result and decide the next step.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286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Main parts of a harness</a:t>
            </a:r>
            <a:endParaRPr lang="en-US" sz="1400" dirty="0"/>
          </a:p>
        </p:txBody>
      </p:sp>
      <p:sp>
        <p:nvSpPr>
          <p:cNvPr id="9" name="harness-part-1"/>
          <p:cNvSpPr/>
          <p:nvPr/>
        </p:nvSpPr>
        <p:spPr>
          <a:xfrm>
            <a:off x="4434840" y="2651760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651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Loop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65176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Control that repeats: think, use a tool, see the result, think again</a:t>
            </a:r>
            <a:endParaRPr lang="en-US" sz="1100" dirty="0"/>
          </a:p>
        </p:txBody>
      </p:sp>
      <p:sp>
        <p:nvSpPr>
          <p:cNvPr id="12" name="harness-part-2"/>
          <p:cNvSpPr/>
          <p:nvPr/>
        </p:nvSpPr>
        <p:spPr>
          <a:xfrm>
            <a:off x="4434840" y="3044952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044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Tools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449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 search, file operations, shell, browser control: the AI's hands and feet</a:t>
            </a:r>
            <a:endParaRPr lang="en-US" sz="1100" dirty="0"/>
          </a:p>
        </p:txBody>
      </p:sp>
      <p:sp>
        <p:nvSpPr>
          <p:cNvPr id="15" name="harness-part-3"/>
          <p:cNvSpPr/>
          <p:nvPr/>
        </p:nvSpPr>
        <p:spPr>
          <a:xfrm>
            <a:off x="4434840" y="3438144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438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Memory / context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43814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What has been done, and how to remember it over long work</a:t>
            </a:r>
            <a:endParaRPr lang="en-US" sz="1100" dirty="0"/>
          </a:p>
        </p:txBody>
      </p:sp>
      <p:sp>
        <p:nvSpPr>
          <p:cNvPr id="18" name="harness-part-4"/>
          <p:cNvSpPr/>
          <p:nvPr/>
        </p:nvSpPr>
        <p:spPr>
          <a:xfrm>
            <a:off x="4434840" y="3831336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Permissions / safeguards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831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Ask before risky actions; limit what can be run</a:t>
            </a:r>
            <a:endParaRPr lang="en-US" sz="1100" dirty="0"/>
          </a:p>
        </p:txBody>
      </p:sp>
      <p:sp>
        <p:nvSpPr>
          <p:cNvPr id="21" name="harness-part-5"/>
          <p:cNvSpPr/>
          <p:nvPr/>
        </p:nvSpPr>
        <p:spPr>
          <a:xfrm>
            <a:off x="4434840" y="4224528"/>
            <a:ext cx="717804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4224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Sub-agents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22452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way to call other AIs and split up the work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All three tools in this story are harnesses</a:t>
            </a:r>
            <a:endParaRPr lang="en-US" sz="1400" dirty="0"/>
          </a:p>
        </p:txBody>
      </p:sp>
      <p:sp>
        <p:nvSpPr>
          <p:cNvPr id="25" name="harness-tool-1"/>
          <p:cNvSpPr/>
          <p:nvPr/>
        </p:nvSpPr>
        <p:spPr>
          <a:xfrm>
            <a:off x="54864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257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Hermes Agent: general-purpose agent harness. Loop, 70+ tools, memory, approval system</a:t>
            </a:r>
            <a:endParaRPr lang="en-US" sz="1100" dirty="0"/>
          </a:p>
        </p:txBody>
      </p:sp>
      <p:sp>
        <p:nvSpPr>
          <p:cNvPr id="28" name="harness-tool-2"/>
          <p:cNvSpPr/>
          <p:nvPr/>
        </p:nvSpPr>
        <p:spPr>
          <a:xfrm>
            <a:off x="429768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5257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Cairn: built for attacks. Facts and plans go on a shared Blackboard; several workers split the job</a:t>
            </a:r>
            <a:endParaRPr lang="en-US" sz="1100" dirty="0"/>
          </a:p>
        </p:txBody>
      </p:sp>
      <p:sp>
        <p:nvSpPr>
          <p:cNvPr id="31" name="harness-tool-3"/>
          <p:cNvSpPr/>
          <p:nvPr/>
        </p:nvSpPr>
        <p:spPr>
          <a:xfrm>
            <a:off x="8046720" y="51206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5257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Strix: defensive testing harness. Multiple agents in a Docker sandbox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447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The same model behaves differently under a different harness. Safeguards are harness settings, not just whether the model refuses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points</a:t>
            </a:r>
            <a:endParaRPr lang="en-US" sz="3200" dirty="0"/>
          </a:p>
        </p:txBody>
      </p:sp>
      <p:sp>
        <p:nvSpPr>
          <p:cNvPr id="3" name="stat-card-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27+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companies breached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105 attack projects launched Sept 10-15 alone</a:t>
            </a:r>
            <a:endParaRPr lang="en-US" sz="1400" dirty="0"/>
          </a:p>
        </p:txBody>
      </p:sp>
      <p:sp>
        <p:nvSpPr>
          <p:cNvPr id="7" name="stat-card-2"/>
          <p:cNvSpPr/>
          <p:nvPr/>
        </p:nvSpPr>
        <p:spPr>
          <a:xfrm>
            <a:off x="429768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600K+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card records stolen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From two companies; about 488K issued in the US</a:t>
            </a:r>
            <a:endParaRPr lang="en-US" sz="1400" dirty="0"/>
          </a:p>
        </p:txBody>
      </p:sp>
      <p:sp>
        <p:nvSpPr>
          <p:cNvPr id="11" name="stat-card-3"/>
          <p:cNvSpPr/>
          <p:nvPr/>
        </p:nvSpPr>
        <p:spPr>
          <a:xfrm>
            <a:off x="804672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~$25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 target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249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Mean AI model cost; range $3 to $79</a:t>
            </a:r>
            <a:endParaRPr lang="en-US" sz="1400" dirty="0"/>
          </a:p>
        </p:txBody>
      </p:sp>
      <p:sp>
        <p:nvSpPr>
          <p:cNvPr id="15" name="message-1"/>
          <p:cNvSpPr/>
          <p:nvPr/>
        </p:nvSpPr>
        <p:spPr>
          <a:xfrm>
            <a:off x="548640" y="37033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1304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 purpose-built malware: a chain of legitimate, publicly available open-source tools</a:t>
            </a:r>
            <a:endParaRPr lang="en-US" sz="1600" dirty="0"/>
          </a:p>
        </p:txBody>
      </p:sp>
      <p:sp>
        <p:nvSpPr>
          <p:cNvPr id="18" name="message-2"/>
          <p:cNvSpPr/>
          <p:nvPr/>
        </p:nvSpPr>
        <p:spPr>
          <a:xfrm>
            <a:off x="548640" y="448056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902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Human input was minimal: 1,951 short prompts across 260 sessions</a:t>
            </a:r>
            <a:endParaRPr lang="en-US" sz="1600" dirty="0"/>
          </a:p>
        </p:txBody>
      </p:sp>
      <p:sp>
        <p:nvSpPr>
          <p:cNvPr id="21" name="message-3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6752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goal was card theft, not ransomware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Division of labor in the attack chain</a:t>
            </a:r>
            <a:endParaRPr lang="en-US" sz="3200" dirty="0"/>
          </a:p>
        </p:txBody>
      </p:sp>
      <p:sp>
        <p:nvSpPr>
          <p:cNvPr id="3" name="role-card-Strix"/>
          <p:cNvSpPr/>
          <p:nvPr/>
        </p:nvSpPr>
        <p:spPr>
          <a:xfrm>
            <a:off x="5486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Strix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Recon and vulnerability discovery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public security-testing tool, run in deep mode against targets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used (Gambit report)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GLM 5.2, then DeepSeek v4 Pro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50208" y="3017520"/>
            <a:ext cx="36576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role-card-Cairn"/>
          <p:cNvSpPr/>
          <p:nvPr/>
        </p:nvSpPr>
        <p:spPr>
          <a:xfrm>
            <a:off x="44348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Cairn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Autonomous intrusion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Given a goal (such as a shell), it runs on its own for hours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used (Gambit report)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DeepSeek v4.1 Flash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36408" y="3017520"/>
            <a:ext cx="365760" cy="36576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9" name="role-card-Hermes"/>
          <p:cNvSpPr/>
          <p:nvPr/>
        </p:nvSpPr>
        <p:spPr>
          <a:xfrm>
            <a:off x="8321040" y="14630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Hermes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Orchestration and post-access work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Directs the campaign and decides next steps after access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Model used (Gambit report)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Opus 4.6 (after newer models refused)</a:t>
            </a:r>
            <a:endParaRPr lang="en-US" sz="1400" dirty="0"/>
          </a:p>
        </p:txBody>
      </p:sp>
      <p:sp>
        <p:nvSpPr>
          <p:cNvPr id="26" name="role-note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human only named targets and goals in short instructions. Models were sourced through OpenRouter.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Strix: an AI security-testing agent</a:t>
            </a:r>
            <a:endParaRPr lang="en-US" sz="3200" dirty="0"/>
          </a:p>
        </p:txBody>
      </p:sp>
      <p:sp>
        <p:nvSpPr>
          <p:cNvPr id="3" name="strix-profile"/>
          <p:cNvSpPr/>
          <p:nvPr/>
        </p:nvSpPr>
        <p:spPr>
          <a:xfrm>
            <a:off x="548640" y="1463040"/>
            <a:ext cx="3291840" cy="4434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usestrix/strix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Apache-2.0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65K+ GitHub stars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Intended use: find and fix flaws in your own apps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Official warning: test only systems you are authorized to test</a:t>
            </a:r>
            <a:endParaRPr lang="en-US" sz="1400" dirty="0"/>
          </a:p>
        </p:txBody>
      </p:sp>
      <p:sp>
        <p:nvSpPr>
          <p:cNvPr id="7" name="strix-layer-label-1"/>
          <p:cNvSpPr/>
          <p:nvPr/>
        </p:nvSpPr>
        <p:spPr>
          <a:xfrm>
            <a:off x="4114800" y="14630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Entry</a:t>
            </a:r>
            <a:endParaRPr lang="en-US" sz="1400" dirty="0"/>
          </a:p>
        </p:txBody>
      </p:sp>
      <p:sp>
        <p:nvSpPr>
          <p:cNvPr id="9" name="strix-layer-body-1"/>
          <p:cNvSpPr/>
          <p:nvPr/>
        </p:nvSpPr>
        <p:spPr>
          <a:xfrm>
            <a:off x="6126480" y="14630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 / TUI / GitHub Actions (scan on every pull request)</a:t>
            </a:r>
            <a:endParaRPr lang="en-US" sz="1400" dirty="0"/>
          </a:p>
        </p:txBody>
      </p:sp>
      <p:sp>
        <p:nvSpPr>
          <p:cNvPr id="11" name="strix-layer-label-2"/>
          <p:cNvSpPr/>
          <p:nvPr/>
        </p:nvSpPr>
        <p:spPr>
          <a:xfrm>
            <a:off x="4114800" y="23774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2377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 layer</a:t>
            </a:r>
            <a:endParaRPr lang="en-US" sz="1400" dirty="0"/>
          </a:p>
        </p:txBody>
      </p:sp>
      <p:sp>
        <p:nvSpPr>
          <p:cNvPr id="13" name="strix-layer-body-2"/>
          <p:cNvSpPr/>
          <p:nvPr/>
        </p:nvSpPr>
        <p:spPr>
          <a:xfrm>
            <a:off x="6126480" y="23774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377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 of Agents: a commander agent spawns specialist child agents that work in parallel; results are shared via completion reports, shared notes and ledgers (details on next slide)</a:t>
            </a:r>
            <a:endParaRPr lang="en-US" sz="1400" dirty="0"/>
          </a:p>
        </p:txBody>
      </p:sp>
      <p:sp>
        <p:nvSpPr>
          <p:cNvPr id="15" name="strix-layer-label-3"/>
          <p:cNvSpPr/>
          <p:nvPr/>
        </p:nvSpPr>
        <p:spPr>
          <a:xfrm>
            <a:off x="4114800" y="32918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0" y="3291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Runtime</a:t>
            </a:r>
            <a:endParaRPr lang="en-US" sz="1400" dirty="0"/>
          </a:p>
        </p:txBody>
      </p:sp>
      <p:sp>
        <p:nvSpPr>
          <p:cNvPr id="17" name="strix-layer-body-3"/>
          <p:cNvSpPr/>
          <p:nvPr/>
        </p:nvSpPr>
        <p:spPr>
          <a:xfrm>
            <a:off x="6126480" y="32918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2918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sandbox with HTTP proxy, browser, terminal, Python runtime, and recon tools</a:t>
            </a:r>
            <a:endParaRPr lang="en-US" sz="1400" dirty="0"/>
          </a:p>
        </p:txBody>
      </p:sp>
      <p:sp>
        <p:nvSpPr>
          <p:cNvPr id="19" name="strix-layer-label-4"/>
          <p:cNvSpPr/>
          <p:nvPr/>
        </p:nvSpPr>
        <p:spPr>
          <a:xfrm>
            <a:off x="4114800" y="42062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0" y="4206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Brain</a:t>
            </a:r>
            <a:endParaRPr lang="en-US" sz="1400" dirty="0"/>
          </a:p>
        </p:txBody>
      </p:sp>
      <p:sp>
        <p:nvSpPr>
          <p:cNvPr id="21" name="strix-layer-body-4"/>
          <p:cNvSpPr/>
          <p:nvPr/>
        </p:nvSpPr>
        <p:spPr>
          <a:xfrm>
            <a:off x="6126480" y="42062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4206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LLM via LiteLLM. Actually used here: GLM 5.2, later DeepSeek v4 Pro (Gambit report). Skills (knowledge packs) and MCP integration</a:t>
            </a:r>
            <a:endParaRPr lang="en-US" sz="1400" dirty="0"/>
          </a:p>
        </p:txBody>
      </p:sp>
      <p:sp>
        <p:nvSpPr>
          <p:cNvPr id="23" name="strix-layer-label-5"/>
          <p:cNvSpPr/>
          <p:nvPr/>
        </p:nvSpPr>
        <p:spPr>
          <a:xfrm>
            <a:off x="4114800" y="512064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14800" y="5120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</a:t>
            </a:r>
            <a:endParaRPr lang="en-US" sz="1400" dirty="0"/>
          </a:p>
        </p:txBody>
      </p:sp>
      <p:sp>
        <p:nvSpPr>
          <p:cNvPr id="25" name="strix-layer-body-5"/>
          <p:cNvSpPr/>
          <p:nvPr/>
        </p:nvSpPr>
        <p:spPr>
          <a:xfrm>
            <a:off x="6126480" y="512064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51206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Validated findings with proof of concept, reports, suggested fixes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repository README and AGENTS.md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Strix: how multiple agents work (Graph of Agents)</a:t>
            </a:r>
            <a:endParaRPr lang="en-US" sz="3200" dirty="0"/>
          </a:p>
        </p:txBody>
      </p:sp>
      <p:sp>
        <p:nvSpPr>
          <p:cNvPr id="3" name="goa-tree"/>
          <p:cNvSpPr/>
          <p:nvPr/>
        </p:nvSpPr>
        <p:spPr>
          <a:xfrm>
            <a:off x="548640" y="1371600"/>
            <a:ext cx="51206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Who calls whom</a:t>
            </a:r>
            <a:endParaRPr lang="en-US" sz="1400" dirty="0"/>
          </a:p>
        </p:txBody>
      </p:sp>
      <p:sp>
        <p:nvSpPr>
          <p:cNvPr id="5" name="goa-root"/>
          <p:cNvSpPr/>
          <p:nvPr/>
        </p:nvSpPr>
        <p:spPr>
          <a:xfrm>
            <a:off x="1828800" y="187452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1874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Root (commander)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Does not test itself; only directs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99232" y="2542032"/>
            <a:ext cx="228600" cy="27432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8" name="goa-child-1"/>
          <p:cNvSpPr/>
          <p:nvPr/>
        </p:nvSpPr>
        <p:spPr>
          <a:xfrm>
            <a:off x="73152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Recon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(maps the attack surface)</a:t>
            </a:r>
            <a:endParaRPr lang="en-US" sz="1100" dirty="0"/>
          </a:p>
        </p:txBody>
      </p:sp>
      <p:sp>
        <p:nvSpPr>
          <p:cNvPr id="10" name="goa-child-2"/>
          <p:cNvSpPr/>
          <p:nvPr/>
        </p:nvSpPr>
        <p:spPr>
          <a:xfrm>
            <a:off x="237744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XSS / SQLi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(one per vuln type)</a:t>
            </a:r>
            <a:endParaRPr lang="en-US" sz="1100" dirty="0"/>
          </a:p>
        </p:txBody>
      </p:sp>
      <p:sp>
        <p:nvSpPr>
          <p:cNvPr id="12" name="goa-child-3"/>
          <p:cNvSpPr/>
          <p:nvPr/>
        </p:nvSpPr>
        <p:spPr>
          <a:xfrm>
            <a:off x="4023360" y="2852928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285292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Validation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(proves exploitability with a PoC)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 The root calls specialist children with create_agent. Children can call children too, so the work branches into a tree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 Each child gets 1-3 skills (knowledge packs) and runs in parallel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 Before spawning, view_agent_graph checks that nobody already covers that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 A child returns results to its parent with agent_finish; unneeded children are stopped with stop_agent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findings are shared (confirmed in the code)</a:t>
            </a:r>
            <a:endParaRPr lang="en-US" sz="1400" dirty="0"/>
          </a:p>
        </p:txBody>
      </p:sp>
      <p:sp>
        <p:nvSpPr>
          <p:cNvPr id="16" name="goa-share-label-1"/>
          <p:cNvSpPr/>
          <p:nvPr/>
        </p:nvSpPr>
        <p:spPr>
          <a:xfrm>
            <a:off x="5943600" y="17373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Parent-child handoff</a:t>
            </a:r>
            <a:endParaRPr lang="en-US" sz="1200" dirty="0"/>
          </a:p>
        </p:txBody>
      </p:sp>
      <p:sp>
        <p:nvSpPr>
          <p:cNvPr id="18" name="goa-share-body-1"/>
          <p:cNvSpPr/>
          <p:nvPr/>
        </p:nvSpPr>
        <p:spPr>
          <a:xfrm>
            <a:off x="7772400" y="173736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child starts with the parent's history as background. On finish, findings and report IDs land in the parent's inbox</a:t>
            </a:r>
            <a:endParaRPr lang="en-US" sz="1100" dirty="0"/>
          </a:p>
        </p:txBody>
      </p:sp>
      <p:sp>
        <p:nvSpPr>
          <p:cNvPr id="20" name="goa-share-label-2"/>
          <p:cNvSpPr/>
          <p:nvPr/>
        </p:nvSpPr>
        <p:spPr>
          <a:xfrm>
            <a:off x="5943600" y="256032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Messages</a:t>
            </a:r>
            <a:endParaRPr lang="en-US" sz="1200" dirty="0"/>
          </a:p>
        </p:txBody>
      </p:sp>
      <p:sp>
        <p:nvSpPr>
          <p:cNvPr id="22" name="goa-share-body-2"/>
          <p:cNvSpPr/>
          <p:nvPr/>
        </p:nvSpPr>
        <p:spPr>
          <a:xfrm>
            <a:off x="7772400" y="256032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82128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send_message_to_agent sends e.g. credentials directly to another agent, but the prompt says to use it sparingly</a:t>
            </a:r>
            <a:endParaRPr lang="en-US" sz="1100" dirty="0"/>
          </a:p>
        </p:txBody>
      </p:sp>
      <p:sp>
        <p:nvSpPr>
          <p:cNvPr id="24" name="goa-share-label-3"/>
          <p:cNvSpPr/>
          <p:nvPr/>
        </p:nvSpPr>
        <p:spPr>
          <a:xfrm>
            <a:off x="5943600" y="338328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Shared notes</a:t>
            </a:r>
            <a:endParaRPr lang="en-US" sz="1200" dirty="0"/>
          </a:p>
        </p:txBody>
      </p:sp>
      <p:sp>
        <p:nvSpPr>
          <p:cNvPr id="26" name="goa-share-body-3"/>
          <p:cNvSpPr/>
          <p:nvPr/>
        </p:nvSpPr>
        <p:spPr>
          <a:xfrm>
            <a:off x="7772400" y="338328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82128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scratchpad everyone can read and write: working credentials, discovered endpoint lists</a:t>
            </a:r>
            <a:endParaRPr lang="en-US" sz="1100" dirty="0"/>
          </a:p>
        </p:txBody>
      </p:sp>
      <p:sp>
        <p:nvSpPr>
          <p:cNvPr id="28" name="goa-share-label-4"/>
          <p:cNvSpPr/>
          <p:nvPr/>
        </p:nvSpPr>
        <p:spPr>
          <a:xfrm>
            <a:off x="594360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Shared ledgers</a:t>
            </a:r>
            <a:endParaRPr lang="en-US" sz="1200" dirty="0"/>
          </a:p>
        </p:txBody>
      </p:sp>
      <p:sp>
        <p:nvSpPr>
          <p:cNvPr id="30" name="goa-share-body-4"/>
          <p:cNvSpPr/>
          <p:nvPr/>
        </p:nvSpPr>
        <p:spPr>
          <a:xfrm>
            <a:off x="7772400" y="420624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82128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Vulnerability reports, coverage (what was reviewed) and the threat model. Duplicate reports are rejected automatically</a:t>
            </a:r>
            <a:endParaRPr lang="en-US" sz="1100" dirty="0"/>
          </a:p>
        </p:txBody>
      </p:sp>
      <p:sp>
        <p:nvSpPr>
          <p:cNvPr id="32" name="goa-share-label-5"/>
          <p:cNvSpPr/>
          <p:nvPr/>
        </p:nvSpPr>
        <p:spPr>
          <a:xfrm>
            <a:off x="5943600" y="502920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0" y="5029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Same workspace</a:t>
            </a:r>
            <a:endParaRPr lang="en-US" sz="1200" dirty="0"/>
          </a:p>
        </p:txBody>
      </p:sp>
      <p:sp>
        <p:nvSpPr>
          <p:cNvPr id="34" name="goa-share-body-5"/>
          <p:cNvSpPr/>
          <p:nvPr/>
        </p:nvSpPr>
        <p:spPr>
          <a:xfrm>
            <a:off x="7772400" y="502920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882128" y="5029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 agents share one Docker container, /workspace and the proxy traffic history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Strix code (strix/tools/agents_graph, system prompt) checked. The README's "share discoveries and collaborate like a red team" refers to the mechanisms above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Cairn: autonomous search on a shared board</a:t>
            </a:r>
            <a:endParaRPr lang="en-US" sz="3200" dirty="0"/>
          </a:p>
        </p:txBody>
      </p:sp>
      <p:sp>
        <p:nvSpPr>
          <p:cNvPr id="3" name="cairn-server"/>
          <p:cNvSpPr/>
          <p:nvPr/>
        </p:nvSpPr>
        <p:spPr>
          <a:xfrm>
            <a:off x="548640" y="1463040"/>
            <a:ext cx="585216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Cairn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 board holding Facts, Intents, and Hints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0" y="2651760"/>
            <a:ext cx="365760" cy="32004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cairn-dispatcher"/>
          <p:cNvSpPr/>
          <p:nvPr/>
        </p:nvSpPr>
        <p:spPr>
          <a:xfrm>
            <a:off x="548640" y="3063240"/>
            <a:ext cx="58521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Dispatcher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Schedules tasks, manages containers, sole writer to the 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4069080"/>
            <a:ext cx="365760" cy="320040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cairn-worker-1"/>
          <p:cNvSpPr/>
          <p:nvPr/>
        </p:nvSpPr>
        <p:spPr>
          <a:xfrm>
            <a:off x="54864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(Project A)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3" name="cairn-worker-2"/>
          <p:cNvSpPr/>
          <p:nvPr/>
        </p:nvSpPr>
        <p:spPr>
          <a:xfrm>
            <a:off x="3566160" y="4480560"/>
            <a:ext cx="2834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(Project B)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52578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17" name="cairn-concept-Fact"/>
          <p:cNvSpPr/>
          <p:nvPr/>
        </p:nvSpPr>
        <p:spPr>
          <a:xfrm>
            <a:off x="6766560" y="146304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1463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confirmed finding</a:t>
            </a:r>
            <a:endParaRPr lang="en-US" sz="1400" dirty="0"/>
          </a:p>
        </p:txBody>
      </p:sp>
      <p:sp>
        <p:nvSpPr>
          <p:cNvPr id="20" name="cairn-concept-Intent"/>
          <p:cNvSpPr/>
          <p:nvPr/>
        </p:nvSpPr>
        <p:spPr>
          <a:xfrm>
            <a:off x="6766560" y="219456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2194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194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direction to explore, not yet run</a:t>
            </a:r>
            <a:endParaRPr lang="en-US" sz="1400" dirty="0"/>
          </a:p>
        </p:txBody>
      </p:sp>
      <p:sp>
        <p:nvSpPr>
          <p:cNvPr id="23" name="cairn-concept-Hint"/>
          <p:cNvSpPr/>
          <p:nvPr/>
        </p:nvSpPr>
        <p:spPr>
          <a:xfrm>
            <a:off x="6766560" y="2926080"/>
            <a:ext cx="4846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29260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Hint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926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advice, added at any time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749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Workers have no fixed roles; they loop observe, orient, decide, 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Workers coordinate only through the shared 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Worker backend is selectable (supports the Claude Code, Codex and Pi CLIs). Which one was used here is not in the report; the model behind it is set separately (DeepSeek per the report)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AGPL-3.0, 3.2K stars. Solved 54 of 54 problems at a Tencent hackathon (3rd place)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Hermes: a self-improving general agent</a:t>
            </a:r>
            <a:endParaRPr lang="en-US" sz="3200" dirty="0"/>
          </a:p>
        </p:txBody>
      </p:sp>
      <p:sp>
        <p:nvSpPr>
          <p:cNvPr id="3" name="hermes-feature-1"/>
          <p:cNvSpPr/>
          <p:nvPr/>
        </p:nvSpPr>
        <p:spPr>
          <a:xfrm>
            <a:off x="54864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Learning loop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Creates skills from experience and improves them with use</a:t>
            </a:r>
            <a:endParaRPr lang="en-US" sz="1400" dirty="0"/>
          </a:p>
        </p:txBody>
      </p:sp>
      <p:sp>
        <p:nvSpPr>
          <p:cNvPr id="6" name="hermes-feature-2"/>
          <p:cNvSpPr/>
          <p:nvPr/>
        </p:nvSpPr>
        <p:spPr>
          <a:xfrm>
            <a:off x="304038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232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Persistent memory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2326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Searches past sessions (FTS5) and builds a user profile</a:t>
            </a:r>
            <a:endParaRPr lang="en-US" sz="1400" dirty="0"/>
          </a:p>
        </p:txBody>
      </p:sp>
      <p:sp>
        <p:nvSpPr>
          <p:cNvPr id="9" name="hermes-feature-3"/>
          <p:cNvSpPr/>
          <p:nvPr/>
        </p:nvSpPr>
        <p:spPr>
          <a:xfrm>
            <a:off x="5532120" y="146304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1500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Gateway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1031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process serves Telegram, Discord, Slack, and more</a:t>
            </a:r>
            <a:endParaRPr lang="en-US" sz="1400" dirty="0"/>
          </a:p>
        </p:txBody>
      </p:sp>
      <p:sp>
        <p:nvSpPr>
          <p:cNvPr id="12" name="hermes-feature-4"/>
          <p:cNvSpPr/>
          <p:nvPr/>
        </p:nvSpPr>
        <p:spPr>
          <a:xfrm>
            <a:off x="54864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Scheduled jobs (cron)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Natural-language tasks that run unattended</a:t>
            </a:r>
            <a:endParaRPr lang="en-US" sz="1400" dirty="0"/>
          </a:p>
        </p:txBody>
      </p:sp>
      <p:sp>
        <p:nvSpPr>
          <p:cNvPr id="15" name="hermes-feature-5"/>
          <p:cNvSpPr/>
          <p:nvPr/>
        </p:nvSpPr>
        <p:spPr>
          <a:xfrm>
            <a:off x="304038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2326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Subagents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2326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Isolated child agents run in parallel</a:t>
            </a:r>
            <a:endParaRPr lang="en-US" sz="1400" dirty="0"/>
          </a:p>
        </p:txBody>
      </p:sp>
      <p:sp>
        <p:nvSpPr>
          <p:cNvPr id="18" name="hermes-feature-6"/>
          <p:cNvSpPr/>
          <p:nvPr/>
        </p:nvSpPr>
        <p:spPr>
          <a:xfrm>
            <a:off x="5532120" y="3429000"/>
            <a:ext cx="2331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 runtime backends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40690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local, Docker, SSH, Singularity, Modal, Daytona, Vercel Sandbox</a:t>
            </a:r>
            <a:endParaRPr lang="en-US" sz="1400" dirty="0"/>
          </a:p>
        </p:txBody>
      </p:sp>
      <p:sp>
        <p:nvSpPr>
          <p:cNvPr id="21" name="hermes-abuse"/>
          <p:cNvSpPr/>
          <p:nvPr/>
        </p:nvSpPr>
        <p:spPr>
          <a:xfrm>
            <a:off x="8138160" y="1463040"/>
            <a:ext cx="3474720" cy="379476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How it was abused (Gambit)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Loaded a "Red Team Operator" persona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78 of 121 skills were attack 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Added a skill that removes Hermes's own safety filters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Switched models when one refused</a:t>
            </a:r>
            <a:endParaRPr lang="en-US" sz="1400" dirty="0"/>
          </a:p>
        </p:txBody>
      </p:sp>
      <p:sp>
        <p:nvSpPr>
          <p:cNvPr id="24" name="hermes-banner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MIT  /  250K+ GitHub stars  /  40+ tools  /  MCP support  /  any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Cairn probes and adapts</a:t>
            </a:r>
            <a:endParaRPr lang="en-US" sz="3200" dirty="0"/>
          </a:p>
        </p:txBody>
      </p:sp>
      <p:sp>
        <p:nvSpPr>
          <p:cNvPr id="3" name="loop-step-1"/>
          <p:cNvSpPr/>
          <p:nvPr/>
        </p:nvSpPr>
        <p:spPr>
          <a:xfrm>
            <a:off x="54864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Observe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facts gathered so far on the shared 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4553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loop-step-2"/>
          <p:cNvSpPr/>
          <p:nvPr/>
        </p:nvSpPr>
        <p:spPr>
          <a:xfrm>
            <a:off x="338328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next direction to explore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017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loop-step-3"/>
          <p:cNvSpPr/>
          <p:nvPr/>
        </p:nvSpPr>
        <p:spPr>
          <a:xfrm>
            <a:off x="621792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 that one direction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14816" y="219456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loop-step-4"/>
          <p:cNvSpPr/>
          <p:nvPr/>
        </p:nvSpPr>
        <p:spPr>
          <a:xfrm>
            <a:off x="9052560" y="141732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result back to the board as a fact</a:t>
            </a:r>
            <a:endParaRPr lang="en-US" sz="1400" dirty="0"/>
          </a:p>
        </p:txBody>
      </p:sp>
      <p:sp>
        <p:nvSpPr>
          <p:cNvPr id="22" name="loop-return"/>
          <p:cNvSpPr/>
          <p:nvPr/>
        </p:nvSpPr>
        <p:spPr>
          <a:xfrm>
            <a:off x="548640" y="3383280"/>
            <a:ext cx="110642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With that result in hand, it loops back to observe, until the goal is met or time runs out</a:t>
            </a:r>
            <a:endParaRPr lang="en-US" sz="1400" dirty="0"/>
          </a:p>
        </p:txBody>
      </p:sp>
      <p:sp>
        <p:nvSpPr>
          <p:cNvPr id="24" name="loop-example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Example: one case in the Gambit report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Login-page flaw → admin panel → file placed on server → root access → cloud keys → card data</a:t>
            </a:r>
            <a:endParaRPr lang="en-US" sz="1400" dirty="0"/>
          </a:p>
        </p:txBody>
      </p:sp>
      <p:sp>
        <p:nvSpPr>
          <p:cNvPr id="27" name="loop-meaning"/>
          <p:cNvSpPr/>
          <p:nvPr/>
        </p:nvSpPr>
        <p:spPr>
          <a:xfrm>
            <a:off x="621792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this means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617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decides each step from the last result, so the path differs for every victim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single fix stops the whole chain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Humans can add hints, but most of the work runs on its 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Inside Hermes</a:t>
            </a:r>
            <a:endParaRPr lang="en-US" sz="3200" dirty="0"/>
          </a:p>
        </p:txBody>
      </p:sp>
      <p:sp>
        <p:nvSpPr>
          <p:cNvPr id="3" name="hermes-entry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Entry: terminal (CLI) and chat apps (Telegram, Slack, Discord, and more)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2084832"/>
            <a:ext cx="274320" cy="20116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hermes-loop"/>
          <p:cNvSpPr/>
          <p:nvPr/>
        </p:nvSpPr>
        <p:spPr>
          <a:xfrm>
            <a:off x="548640" y="233172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AIAgent (run_agent.py)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Ask the model, use a tool, read the result. Repeat until no tool is needed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3273552"/>
            <a:ext cx="274320" cy="201168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hermes-part-1"/>
          <p:cNvSpPr/>
          <p:nvPr/>
        </p:nvSpPr>
        <p:spPr>
          <a:xfrm>
            <a:off x="548640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70+. Each file registers itself, so adding one is easy</a:t>
            </a:r>
            <a:endParaRPr lang="en-US" sz="1400" dirty="0"/>
          </a:p>
        </p:txBody>
      </p:sp>
      <p:sp>
        <p:nvSpPr>
          <p:cNvPr id="12" name="hermes-part-2"/>
          <p:cNvSpPr/>
          <p:nvPr/>
        </p:nvSpPr>
        <p:spPr>
          <a:xfrm>
            <a:off x="3346704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Skills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SKILL.md playbooks injected into the chat; also auto-generated from experience</a:t>
            </a:r>
            <a:endParaRPr lang="en-US" sz="1400" dirty="0"/>
          </a:p>
        </p:txBody>
      </p:sp>
      <p:sp>
        <p:nvSpPr>
          <p:cNvPr id="15" name="hermes-part-3"/>
          <p:cNvSpPr/>
          <p:nvPr/>
        </p:nvSpPr>
        <p:spPr>
          <a:xfrm>
            <a:off x="6144768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3368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Memory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Sessions saved in SQLite; full-text search recalls the past</a:t>
            </a:r>
            <a:endParaRPr lang="en-US" sz="1400" dirty="0"/>
          </a:p>
        </p:txBody>
      </p:sp>
      <p:sp>
        <p:nvSpPr>
          <p:cNvPr id="18" name="hermes-part-4"/>
          <p:cNvSpPr/>
          <p:nvPr/>
        </p:nvSpPr>
        <p:spPr>
          <a:xfrm>
            <a:off x="8942832" y="352044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71432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Runtime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backends such as local, Docker, SSH. Commands run here</a:t>
            </a:r>
            <a:endParaRPr lang="en-US" sz="1400" dirty="0"/>
          </a:p>
        </p:txBody>
      </p:sp>
      <p:sp>
        <p:nvSpPr>
          <p:cNvPr id="21" name="hermes-provider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providers: switch among 18+ including OpenRouter, OpenAI, and Anthropic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Hermes safeguards and their limits</a:t>
            </a:r>
            <a:endParaRPr lang="en-US" sz="3200" dirty="0"/>
          </a:p>
        </p:txBody>
      </p:sp>
      <p:sp>
        <p:nvSpPr>
          <p:cNvPr id="3" name="safety-built-in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Built-in safeguards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Risky commands are reviewed by an auxiliary AI (default mode: smart)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few system-wrecking operations are always refused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Protects SSH keys and cloud credentials from being overwritten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 users are limited by allow-lists and pairing codes</a:t>
            </a:r>
            <a:endParaRPr lang="en-US" sz="1400" dirty="0"/>
          </a:p>
        </p:txBody>
      </p:sp>
      <p:sp>
        <p:nvSpPr>
          <p:cNvPr id="6" name="safety-limits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Limits (what enabled the abuse)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operator can change the approval mode in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 Docker, approval checks are skipped (the container is treated as the boundary)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runs locally as open source, so operators can modify it. Gambit: a skill was added to remove its safety filters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last brake is the LLM provider's refusal; here, a refusal meant switching models</a:t>
            </a:r>
            <a:endParaRPr lang="en-US" sz="1400" dirty="0"/>
          </a:p>
        </p:txBody>
      </p:sp>
      <p:sp>
        <p:nvSpPr>
          <p:cNvPr id="9" name="safety-takeaway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tool's own safeguards cannot prevent misuse; targets need their own defenses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three tools share</a:t>
            </a:r>
            <a:endParaRPr lang="en-US" sz="3200" dirty="0"/>
          </a:p>
        </p:txBody>
      </p:sp>
      <p:sp>
        <p:nvSpPr>
          <p:cNvPr id="3" name="pattern-row-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pattern-icon-bg-1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Give only a go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Give only a goal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Humans send short instructions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1810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463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Detection and response built for human speed fall behind</a:t>
            </a:r>
            <a:endParaRPr lang="en-US" sz="1600" dirty="0"/>
          </a:p>
        </p:txBody>
      </p:sp>
      <p:sp>
        <p:nvSpPr>
          <p:cNvPr id="10" name="pattern-row-2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pattern-icon-bg-2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Keep trying without ti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443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70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Keep trying without tiring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Self-running loops explore for hours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2953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263640" y="2606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Small, low-profile sites become targets (about $25 each)</a:t>
            </a:r>
            <a:endParaRPr lang="en-US" sz="1600" dirty="0"/>
          </a:p>
        </p:txBody>
      </p:sp>
      <p:sp>
        <p:nvSpPr>
          <p:cNvPr id="17" name="pattern-row-3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8" name="pattern-icon-bg-3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Run in parallel at 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873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45920" y="3913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in parallel at scale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Containers and subagents work at once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669280" y="4096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3749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 monitoring cannot keep up; automated detection is needed</a:t>
            </a:r>
            <a:endParaRPr lang="en-US" sz="1600" dirty="0"/>
          </a:p>
        </p:txBody>
      </p:sp>
      <p:sp>
        <p:nvSpPr>
          <p:cNvPr id="24" name="pattern-row-4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pattern-icon-bg-4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Accumulate experie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23036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45920" y="5056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Accumulate experience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645920" y="5458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Skills and memory reuse what worked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669280" y="5239512"/>
            <a:ext cx="365760" cy="310896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263640" y="48920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technique that worked on one company is reused on others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Break the intrusion chain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 chain (one case in the Gambit report)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Countermeasure</a:t>
            </a:r>
            <a:endParaRPr lang="en-US" sz="1600" dirty="0"/>
          </a:p>
        </p:txBody>
      </p:sp>
      <p:sp>
        <p:nvSpPr>
          <p:cNvPr id="5" name="chain-step-1"/>
          <p:cNvSpPr/>
          <p:nvPr/>
        </p:nvSpPr>
        <p:spPr>
          <a:xfrm>
            <a:off x="548640" y="1828800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injection on the login 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56816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chain-fix-1"/>
          <p:cNvSpPr/>
          <p:nvPr/>
        </p:nvSpPr>
        <p:spPr>
          <a:xfrm>
            <a:off x="6309360" y="1828800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parameterized queries everywhere</a:t>
            </a:r>
            <a:endParaRPr lang="en-US" sz="1400" dirty="0"/>
          </a:p>
        </p:txBody>
      </p:sp>
      <p:sp>
        <p:nvSpPr>
          <p:cNvPr id="10" name="chain-step-2"/>
          <p:cNvSpPr/>
          <p:nvPr/>
        </p:nvSpPr>
        <p:spPr>
          <a:xfrm>
            <a:off x="548640" y="2450592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450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OTP stored in plaintext (MFA bypass)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578608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chain-fix-2"/>
          <p:cNvSpPr/>
          <p:nvPr/>
        </p:nvSpPr>
        <p:spPr>
          <a:xfrm>
            <a:off x="6309360" y="2450592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4505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Hash OTPs and expire them quickly</a:t>
            </a:r>
            <a:endParaRPr lang="en-US" sz="1400" dirty="0"/>
          </a:p>
        </p:txBody>
      </p:sp>
      <p:sp>
        <p:nvSpPr>
          <p:cNvPr id="15" name="chain-step-3"/>
          <p:cNvSpPr/>
          <p:nvPr/>
        </p:nvSpPr>
        <p:spPr>
          <a:xfrm>
            <a:off x="548640" y="3072384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723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upload with no extension check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200400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chain-fix-3"/>
          <p:cNvSpPr/>
          <p:nvPr/>
        </p:nvSpPr>
        <p:spPr>
          <a:xfrm>
            <a:off x="6309360" y="3072384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0723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type and content; store outside web root</a:t>
            </a:r>
            <a:endParaRPr lang="en-US" sz="1400" dirty="0"/>
          </a:p>
        </p:txBody>
      </p:sp>
      <p:sp>
        <p:nvSpPr>
          <p:cNvPr id="20" name="chain-step-4"/>
          <p:cNvSpPr/>
          <p:nvPr/>
        </p:nvSpPr>
        <p:spPr>
          <a:xfrm>
            <a:off x="548640" y="3694176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941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sudo allowed without a password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822192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chain-fix-4"/>
          <p:cNvSpPr/>
          <p:nvPr/>
        </p:nvSpPr>
        <p:spPr>
          <a:xfrm>
            <a:off x="6309360" y="3694176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36941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NOPASSWD; use least privilege</a:t>
            </a:r>
            <a:endParaRPr lang="en-US" sz="1400" dirty="0"/>
          </a:p>
        </p:txBody>
      </p:sp>
      <p:sp>
        <p:nvSpPr>
          <p:cNvPr id="25" name="chain-step-5"/>
          <p:cNvSpPr/>
          <p:nvPr/>
        </p:nvSpPr>
        <p:spPr>
          <a:xfrm>
            <a:off x="548640" y="4315968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3159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NFS misconfiguration; creds in config file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4443984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8" name="chain-fix-5"/>
          <p:cNvSpPr/>
          <p:nvPr/>
        </p:nvSpPr>
        <p:spPr>
          <a:xfrm>
            <a:off x="6309360" y="4315968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3159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Avoid no_root_squash; keep secrets out of config</a:t>
            </a:r>
            <a:endParaRPr lang="en-US" sz="1400" dirty="0"/>
          </a:p>
        </p:txBody>
      </p:sp>
      <p:sp>
        <p:nvSpPr>
          <p:cNvPr id="30" name="chain-step-6"/>
          <p:cNvSpPr/>
          <p:nvPr/>
        </p:nvSpPr>
        <p:spPr>
          <a:xfrm>
            <a:off x="548640" y="4937760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9377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Bulk dump of Secrets Manager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5065776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3" name="chain-fix-6"/>
          <p:cNvSpPr/>
          <p:nvPr/>
        </p:nvSpPr>
        <p:spPr>
          <a:xfrm>
            <a:off x="6309360" y="4937760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9377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Least-privilege IAM; alert on bulk reads</a:t>
            </a:r>
            <a:endParaRPr lang="en-US" sz="1400" dirty="0"/>
          </a:p>
        </p:txBody>
      </p:sp>
      <p:sp>
        <p:nvSpPr>
          <p:cNvPr id="35" name="chain-step-7"/>
          <p:cNvSpPr/>
          <p:nvPr/>
        </p:nvSpPr>
        <p:spPr>
          <a:xfrm>
            <a:off x="548640" y="5559552"/>
            <a:ext cx="53949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555955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Card encryption key reachable from same environment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35040" y="5687568"/>
            <a:ext cx="182880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8" name="chain-fix-7"/>
          <p:cNvSpPr/>
          <p:nvPr/>
        </p:nvSpPr>
        <p:spPr>
          <a:xfrm>
            <a:off x="6309360" y="5559552"/>
            <a:ext cx="530352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555955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Tokenize with a payment provider; hold no card numbers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Protect the checkout page</a:t>
            </a:r>
            <a:endParaRPr lang="en-US" sz="3200" dirty="0"/>
          </a:p>
        </p:txBody>
      </p:sp>
      <p:sp>
        <p:nvSpPr>
          <p:cNvPr id="3" name="skimmer-routes"/>
          <p:cNvSpPr/>
          <p:nvPr/>
        </p:nvSpPr>
        <p:spPr>
          <a:xfrm>
            <a:off x="548640" y="146304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skimmers were planted (Gambit)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line appended to an existing JS file (e.g., jQuery), file timestamp restored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foreign script tag on the checkout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Hidden inside the Google tag block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S3 bucket behind the CDN overwritten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Injected into product description fields in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Added as a Kubernetes initContainer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Poisoned page cache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cron job that re-injects the skimmer after removal</a:t>
            </a:r>
            <a:endParaRPr lang="en-US" sz="1400" dirty="0"/>
          </a:p>
        </p:txBody>
      </p:sp>
      <p:sp>
        <p:nvSpPr>
          <p:cNvPr id="6" name="skimmer-defense"/>
          <p:cNvSpPr/>
          <p:nvPr/>
        </p:nvSpPr>
        <p:spPr>
          <a:xfrm>
            <a:off x="612648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Countermeasures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Allow-list script-src with CSP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Detect tampering with Subresource Integrity (SRI)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served JS hashes with build artifacts on a schedule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Isolate payment with hosted fields or a provider iframe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every script on the page regularly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Restrict S3/CDN write access and alert on changes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 cron jobs, Kubernetes manifests, and caches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payment method changes how you defend</a:t>
            </a:r>
            <a:endParaRPr lang="en-US" sz="3200" dirty="0"/>
          </a:p>
        </p:txBody>
      </p:sp>
      <p:sp>
        <p:nvSpPr>
          <p:cNvPr id="3" name="method-card-A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Hosted payment page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 are sent to the provider's page</a:t>
            </a:r>
            <a:endParaRPr lang="en-US" sz="1200" dirty="0"/>
          </a:p>
        </p:txBody>
      </p:sp>
      <p:sp>
        <p:nvSpPr>
          <p:cNvPr id="7" name="method-risk-A"/>
          <p:cNvSpPr/>
          <p:nvPr/>
        </p:nvSpPr>
        <p:spPr>
          <a:xfrm>
            <a:off x="822960" y="288036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Risk: 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Card numbers never pass through your site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Often possible by changing the contract or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Smallest PCI burden</a:t>
            </a:r>
            <a:endParaRPr lang="en-US" sz="1400" dirty="0"/>
          </a:p>
        </p:txBody>
      </p:sp>
      <p:sp>
        <p:nvSpPr>
          <p:cNvPr id="10" name="method-card-B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An iframe or hosted fields show only the input</a:t>
            </a:r>
            <a:endParaRPr lang="en-US" sz="1200" dirty="0"/>
          </a:p>
        </p:txBody>
      </p:sp>
      <p:sp>
        <p:nvSpPr>
          <p:cNvPr id="14" name="method-risk-B"/>
          <p:cNvSpPr/>
          <p:nvPr/>
        </p:nvSpPr>
        <p:spPr>
          <a:xfrm>
            <a:off x="4572000" y="288036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Risk: medium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provider renders the input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your page is tampered with, its surroundings can be rewritten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May still require script control and tamper detection</a:t>
            </a:r>
            <a:endParaRPr lang="en-US" sz="1400" dirty="0"/>
          </a:p>
        </p:txBody>
      </p:sp>
      <p:sp>
        <p:nvSpPr>
          <p:cNvPr id="17" name="method-card-C"/>
          <p:cNvSpPr/>
          <p:nvPr/>
        </p:nvSpPr>
        <p:spPr>
          <a:xfrm>
            <a:off x="8046720" y="1371600"/>
            <a:ext cx="3566160" cy="41148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own form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server receives the card numbers</a:t>
            </a:r>
            <a:endParaRPr lang="en-US" sz="1200" dirty="0"/>
          </a:p>
        </p:txBody>
      </p:sp>
      <p:sp>
        <p:nvSpPr>
          <p:cNvPr id="21" name="method-risk-C"/>
          <p:cNvSpPr/>
          <p:nvPr/>
        </p:nvSpPr>
        <p:spPr>
          <a:xfrm>
            <a:off x="8321040" y="288036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Risk: high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474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main target for skimmers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Move to A or B first if you 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Until then, apply every measure on the next slide</a:t>
            </a:r>
            <a:endParaRPr lang="en-US" sz="1400" dirty="0"/>
          </a:p>
        </p:txBody>
      </p:sp>
      <p:sp>
        <p:nvSpPr>
          <p:cNvPr id="24" name="method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First confirm your current method. Also ask your payment provider or card brand how PCI applies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Settings that harden the checkout page (priority order)</a:t>
            </a:r>
            <a:endParaRPr lang="en-US" sz="3200" dirty="0"/>
          </a:p>
        </p:txBody>
      </p:sp>
      <p:sp>
        <p:nvSpPr>
          <p:cNvPr id="3" name="setting-label-1"/>
          <p:cNvSpPr/>
          <p:nvPr/>
        </p:nvSpPr>
        <p:spPr>
          <a:xfrm>
            <a:off x="548640" y="1371600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Rethink the method</a:t>
            </a:r>
            <a:endParaRPr lang="en-US" sz="1400" dirty="0"/>
          </a:p>
        </p:txBody>
      </p:sp>
      <p:sp>
        <p:nvSpPr>
          <p:cNvPr id="5" name="setting-body-1"/>
          <p:cNvSpPr/>
          <p:nvPr/>
        </p:nvSpPr>
        <p:spPr>
          <a:xfrm>
            <a:off x="3383280" y="137160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11880" y="13716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to A or B; often a contract or settings change is enough</a:t>
            </a:r>
            <a:endParaRPr lang="en-US" sz="1400" dirty="0"/>
          </a:p>
        </p:txBody>
      </p:sp>
      <p:sp>
        <p:nvSpPr>
          <p:cNvPr id="7" name="setting-label-2"/>
          <p:cNvSpPr/>
          <p:nvPr/>
        </p:nvSpPr>
        <p:spPr>
          <a:xfrm>
            <a:off x="548640" y="2066544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665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Add CSP</a:t>
            </a:r>
            <a:endParaRPr lang="en-US" sz="1400" dirty="0"/>
          </a:p>
        </p:txBody>
      </p:sp>
      <p:sp>
        <p:nvSpPr>
          <p:cNvPr id="9" name="setting-body-2"/>
          <p:cNvSpPr/>
          <p:nvPr/>
        </p:nvSpPr>
        <p:spPr>
          <a:xfrm>
            <a:off x="3383280" y="206654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06654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in Report-Only to observe sources, allow-list them, then enforce</a:t>
            </a:r>
            <a:endParaRPr lang="en-US" sz="1400" dirty="0"/>
          </a:p>
        </p:txBody>
      </p:sp>
      <p:sp>
        <p:nvSpPr>
          <p:cNvPr id="11" name="setting-label-3"/>
          <p:cNvSpPr/>
          <p:nvPr/>
        </p:nvSpPr>
        <p:spPr>
          <a:xfrm>
            <a:off x="548640" y="2761488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6148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Add SRI</a:t>
            </a:r>
            <a:endParaRPr lang="en-US" sz="1400" dirty="0"/>
          </a:p>
        </p:txBody>
      </p:sp>
      <p:sp>
        <p:nvSpPr>
          <p:cNvPr id="13" name="setting-body-3"/>
          <p:cNvSpPr/>
          <p:nvPr/>
        </p:nvSpPr>
        <p:spPr>
          <a:xfrm>
            <a:off x="3383280" y="276148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6148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fixed JS you serve yourself; a poor fit for external scripts that change often</a:t>
            </a:r>
            <a:endParaRPr lang="en-US" sz="1400" dirty="0"/>
          </a:p>
        </p:txBody>
      </p:sp>
      <p:sp>
        <p:nvSpPr>
          <p:cNvPr id="15" name="setting-label-4"/>
          <p:cNvSpPr/>
          <p:nvPr/>
        </p:nvSpPr>
        <p:spPr>
          <a:xfrm>
            <a:off x="548640" y="3456432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564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Cut tags</a:t>
            </a:r>
            <a:endParaRPr lang="en-US" sz="1400" dirty="0"/>
          </a:p>
        </p:txBody>
      </p:sp>
      <p:sp>
        <p:nvSpPr>
          <p:cNvPr id="17" name="setting-body-4"/>
          <p:cNvSpPr/>
          <p:nvPr/>
        </p:nvSpPr>
        <p:spPr>
          <a:xfrm>
            <a:off x="3383280" y="345643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11880" y="34564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only essential scripts, ads, and analytics on the payment page</a:t>
            </a:r>
            <a:endParaRPr lang="en-US" sz="1400" dirty="0"/>
          </a:p>
        </p:txBody>
      </p:sp>
      <p:sp>
        <p:nvSpPr>
          <p:cNvPr id="19" name="setting-label-5"/>
          <p:cNvSpPr/>
          <p:nvPr/>
        </p:nvSpPr>
        <p:spPr>
          <a:xfrm>
            <a:off x="548640" y="4151376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513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Watch for changes</a:t>
            </a:r>
            <a:endParaRPr lang="en-US" sz="1400" dirty="0"/>
          </a:p>
        </p:txBody>
      </p:sp>
      <p:sp>
        <p:nvSpPr>
          <p:cNvPr id="21" name="setting-body-5"/>
          <p:cNvSpPr/>
          <p:nvPr/>
        </p:nvSpPr>
        <p:spPr>
          <a:xfrm>
            <a:off x="3383280" y="415137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11880" y="415137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 on added or changed scripts. Cloudflare monitors scripts free; change detection needs a higher plan</a:t>
            </a:r>
            <a:endParaRPr lang="en-US" sz="1400" dirty="0"/>
          </a:p>
        </p:txBody>
      </p:sp>
      <p:sp>
        <p:nvSpPr>
          <p:cNvPr id="23" name="setting-label-6"/>
          <p:cNvSpPr/>
          <p:nvPr/>
        </p:nvSpPr>
        <p:spPr>
          <a:xfrm>
            <a:off x="548640" y="4846320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8463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Watch the settings</a:t>
            </a:r>
            <a:endParaRPr lang="en-US" sz="1400" dirty="0"/>
          </a:p>
        </p:txBody>
      </p:sp>
      <p:sp>
        <p:nvSpPr>
          <p:cNvPr id="25" name="setting-body-6"/>
          <p:cNvSpPr/>
          <p:nvPr/>
        </p:nvSpPr>
        <p:spPr>
          <a:xfrm>
            <a:off x="3383280" y="48463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11880" y="484632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Rewriting the CSP is itself a risk; keep history and notify</a:t>
            </a:r>
            <a:endParaRPr lang="en-US" sz="1400" dirty="0"/>
          </a:p>
        </p:txBody>
      </p:sp>
      <p:sp>
        <p:nvSpPr>
          <p:cNvPr id="27" name="setting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CSP and SRI alone are not enough; pair them with continuous monitoring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 yourself first</a:t>
            </a:r>
            <a:endParaRPr lang="en-US" sz="3200" dirty="0"/>
          </a:p>
        </p:txBody>
      </p:sp>
      <p:sp>
        <p:nvSpPr>
          <p:cNvPr id="3" name="selftest-step-1"/>
          <p:cNvSpPr/>
          <p:nvPr/>
        </p:nvSpPr>
        <p:spPr>
          <a:xfrm>
            <a:off x="548640" y="14630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 written authorization and define scope</a:t>
            </a:r>
            <a:endParaRPr lang="en-US" sz="1600" dirty="0"/>
          </a:p>
        </p:txBody>
      </p:sp>
      <p:sp>
        <p:nvSpPr>
          <p:cNvPr id="6" name="selftest-step-2"/>
          <p:cNvSpPr/>
          <p:nvPr/>
        </p:nvSpPr>
        <p:spPr>
          <a:xfrm>
            <a:off x="548640" y="23774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with a staging environment</a:t>
            </a:r>
            <a:endParaRPr lang="en-US" sz="1600" dirty="0"/>
          </a:p>
        </p:txBody>
      </p:sp>
      <p:sp>
        <p:nvSpPr>
          <p:cNvPr id="9" name="selftest-step-3"/>
          <p:cNvSpPr/>
          <p:nvPr/>
        </p:nvSpPr>
        <p:spPr>
          <a:xfrm>
            <a:off x="548640" y="32918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quick per-pull-request scans to CI/CD</a:t>
            </a:r>
            <a:endParaRPr lang="en-US" sz="1600" dirty="0"/>
          </a:p>
        </p:txBody>
      </p:sp>
      <p:sp>
        <p:nvSpPr>
          <p:cNvPr id="12" name="selftest-step-4"/>
          <p:cNvSpPr/>
          <p:nvPr/>
        </p:nvSpPr>
        <p:spPr>
          <a:xfrm>
            <a:off x="548640" y="42062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06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Cycle through find, fix, and retest</a:t>
            </a:r>
            <a:endParaRPr lang="en-US" sz="1600" dirty="0"/>
          </a:p>
        </p:txBody>
      </p:sp>
      <p:sp>
        <p:nvSpPr>
          <p:cNvPr id="15" name="selftest-step-5"/>
          <p:cNvSpPr/>
          <p:nvPr/>
        </p:nvSpPr>
        <p:spPr>
          <a:xfrm>
            <a:off x="548640" y="512064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20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production, set scope, hours, and a budget cap</a:t>
            </a:r>
            <a:endParaRPr lang="en-US" sz="1600" dirty="0"/>
          </a:p>
        </p:txBody>
      </p:sp>
      <p:sp>
        <p:nvSpPr>
          <p:cNvPr id="18" name="selftest-caution"/>
          <p:cNvSpPr/>
          <p:nvPr/>
        </p:nvSpPr>
        <p:spPr>
          <a:xfrm>
            <a:off x="7589520" y="1463040"/>
            <a:ext cx="4023360" cy="443484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Operational cautions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only against systems you are authorized to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 what code and credentials are sent to the LLM provider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can take destructive actions; in the Gambit case, 180 tables were deleted by mistake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Back up first and restrict write and delete operations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and LLM tools for vulnerability checks</a:t>
            </a:r>
            <a:endParaRPr lang="en-US" sz="3200" dirty="0"/>
          </a:p>
        </p:txBody>
      </p:sp>
      <p:sp>
        <p:nvSpPr>
          <p:cNvPr id="3" name="tool-row-1"/>
          <p:cNvSpPr/>
          <p:nvPr/>
        </p:nvSpPr>
        <p:spPr>
          <a:xfrm>
            <a:off x="548640" y="137160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a running app like an attacker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Example: Strix (open source)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Run on staging; supports per-pull-request CI scans and reports with reproduction steps</a:t>
            </a:r>
            <a:endParaRPr lang="en-US" sz="1400" dirty="0"/>
          </a:p>
        </p:txBody>
      </p:sp>
      <p:sp>
        <p:nvSpPr>
          <p:cNvPr id="7" name="tool-row-2"/>
          <p:cNvSpPr/>
          <p:nvPr/>
        </p:nvSpPr>
        <p:spPr>
          <a:xfrm>
            <a:off x="548640" y="278892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986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source code and suggest fixes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Examples: GitHub Copilot Autofix, Semgrep, Snyk, Claude Security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AI-assisted code scanning. Check each vendor's features and pricing (not individually verified here)</a:t>
            </a:r>
            <a:endParaRPr lang="en-US" sz="1400" dirty="0"/>
          </a:p>
        </p:txBody>
      </p:sp>
      <p:sp>
        <p:nvSpPr>
          <p:cNvPr id="11" name="tool-row-3"/>
          <p:cNvSpPr/>
          <p:nvPr/>
        </p:nvSpPr>
        <p:spPr>
          <a:xfrm>
            <a:off x="548640" y="4206240"/>
            <a:ext cx="6949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159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Monitor checkout-page scripts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Example: Cloudflare Client-side Security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9834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dedicated monitoring service, not an LLM; use it alongside scanners</a:t>
            </a:r>
            <a:endParaRPr lang="en-US" sz="1400" dirty="0"/>
          </a:p>
        </p:txBody>
      </p:sp>
      <p:sp>
        <p:nvSpPr>
          <p:cNvPr id="15" name="tool-caution"/>
          <p:cNvSpPr/>
          <p:nvPr/>
        </p:nvSpPr>
        <p:spPr>
          <a:xfrm>
            <a:off x="7772400" y="1371600"/>
            <a:ext cx="3840480" cy="411480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Cautions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1031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only on systems you are authorized to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 what code and credentials are sent to the LLM provider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findings include false alarms and misses; people verify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Scanning alone fixes nothing; carry through to fix and rescan</a:t>
            </a:r>
            <a:endParaRPr lang="en-US" sz="1400" dirty="0"/>
          </a:p>
        </p:txBody>
      </p:sp>
      <p:sp>
        <p:nvSpPr>
          <p:cNvPr id="18" name="tool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helps you find and fix; people make the final call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After the scan: how to respond</a:t>
            </a:r>
            <a:endParaRPr lang="en-US" sz="3200" dirty="0"/>
          </a:p>
        </p:txBody>
      </p:sp>
      <p:sp>
        <p:nvSpPr>
          <p:cNvPr id="3" name="after-step-1"/>
          <p:cNvSpPr/>
          <p:nvPr/>
        </p:nvSpPr>
        <p:spPr>
          <a:xfrm>
            <a:off x="548640" y="13716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 by severity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01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Card, auth, and admin-panel issues come first</a:t>
            </a:r>
            <a:endParaRPr lang="en-US" sz="1400" dirty="0"/>
          </a:p>
        </p:txBody>
      </p:sp>
      <p:sp>
        <p:nvSpPr>
          <p:cNvPr id="7" name="after-step-2"/>
          <p:cNvSpPr/>
          <p:nvPr/>
        </p:nvSpPr>
        <p:spPr>
          <a:xfrm>
            <a:off x="548640" y="22860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77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 what you cannot fix yet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15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 WAF rules, disable features, restrict access</a:t>
            </a:r>
            <a:endParaRPr lang="en-US" sz="1400" dirty="0"/>
          </a:p>
        </p:txBody>
      </p:sp>
      <p:sp>
        <p:nvSpPr>
          <p:cNvPr id="11" name="after-step-3"/>
          <p:cNvSpPr/>
          <p:nvPr/>
        </p:nvSpPr>
        <p:spPr>
          <a:xfrm>
            <a:off x="548640" y="32004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91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 the root cause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30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Parameterized queries, upload validation, and the chain fixes shown earlier</a:t>
            </a:r>
            <a:endParaRPr lang="en-US" sz="1400" dirty="0"/>
          </a:p>
        </p:txBody>
      </p:sp>
      <p:sp>
        <p:nvSpPr>
          <p:cNvPr id="15" name="after-step-4"/>
          <p:cNvSpPr/>
          <p:nvPr/>
        </p:nvSpPr>
        <p:spPr>
          <a:xfrm>
            <a:off x="548640" y="41148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06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Rescan to confirm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445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Rerun the same tool and verify the fix</a:t>
            </a:r>
            <a:endParaRPr lang="en-US" sz="1400" dirty="0"/>
          </a:p>
        </p:txBody>
      </p:sp>
      <p:sp>
        <p:nvSpPr>
          <p:cNvPr id="19" name="after-step-5"/>
          <p:cNvSpPr/>
          <p:nvPr/>
        </p:nvSpPr>
        <p:spPr>
          <a:xfrm>
            <a:off x="548640" y="5029200"/>
            <a:ext cx="6949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Make it routine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589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 automated per-pull-request scans</a:t>
            </a:r>
            <a:endParaRPr lang="en-US" sz="1400" dirty="0"/>
          </a:p>
        </p:txBody>
      </p:sp>
      <p:sp>
        <p:nvSpPr>
          <p:cNvPr id="23" name="after-points"/>
          <p:cNvSpPr/>
          <p:nvPr/>
        </p:nvSpPr>
        <p:spPr>
          <a:xfrm>
            <a:off x="777240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Key points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1031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scanning is the entry point; people decide the fix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 production, set scope, hours, and a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Back up before you run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scanners can find, and what needs other measures</a:t>
            </a:r>
            <a:endParaRPr lang="en-US" sz="3200" dirty="0"/>
          </a:p>
        </p:txBody>
      </p:sp>
      <p:sp>
        <p:nvSpPr>
          <p:cNvPr id="3" name="find-yes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Easier for scanners (like Strix) to find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Input-handling flaws such as SQL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Weak upload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weaknesses in login and OTP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Exposed admin panels and misconfigurations</a:t>
            </a:r>
            <a:endParaRPr lang="en-US" sz="1400" dirty="0"/>
          </a:p>
        </p:txBody>
      </p:sp>
      <p:sp>
        <p:nvSpPr>
          <p:cNvPr id="6" name="find-no"/>
          <p:cNvSpPr/>
          <p:nvPr/>
        </p:nvSpPr>
        <p:spPr>
          <a:xfrm>
            <a:off x="6172200" y="1371600"/>
            <a:ext cx="5440680" cy="402336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Hard to find by scanning; needs other measures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Skimmers already planted (needs tamper monitoring)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Internal privilege design (sudo, NFS, cloud keys); depends on scan scope and permission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Backups and recovery readiness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payment method itself (a design decision)</a:t>
            </a:r>
            <a:endParaRPr lang="en-US" sz="1400" dirty="0"/>
          </a:p>
        </p:txBody>
      </p:sp>
      <p:sp>
        <p:nvSpPr>
          <p:cNvPr id="9" name="find-note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Running Strix first could remove many entry-point flaws, but no report here tested that, and it is not enough alone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Tools to keep running in CI</a:t>
            </a:r>
            <a:endParaRPr lang="en-US" sz="3200" dirty="0"/>
          </a:p>
        </p:txBody>
      </p:sp>
      <p:sp>
        <p:nvSpPr>
          <p:cNvPr id="3" name="ci-conclusion"/>
          <p:cNvSpPr/>
          <p:nvPr/>
        </p:nvSpPr>
        <p:spPr>
          <a:xfrm>
            <a:off x="548640" y="137160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You do not need to put CI in the DMZ. What you need is a production-like test environment as the scan target, and an isolated place to run the scanners</a:t>
            </a:r>
            <a:endParaRPr lang="en-US" sz="1400" dirty="0"/>
          </a:p>
        </p:txBody>
      </p:sp>
      <p:sp>
        <p:nvSpPr>
          <p:cNvPr id="5" name="ci-head-1"/>
          <p:cNvSpPr/>
          <p:nvPr/>
        </p:nvSpPr>
        <p:spPr>
          <a:xfrm>
            <a:off x="548640" y="2240280"/>
            <a:ext cx="356616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What it checks</a:t>
            </a:r>
            <a:endParaRPr lang="en-US" sz="1200" dirty="0"/>
          </a:p>
        </p:txBody>
      </p:sp>
      <p:sp>
        <p:nvSpPr>
          <p:cNvPr id="7" name="ci-head-2"/>
          <p:cNvSpPr/>
          <p:nvPr/>
        </p:nvSpPr>
        <p:spPr>
          <a:xfrm>
            <a:off x="4206240" y="2240280"/>
            <a:ext cx="39319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2240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Example tools</a:t>
            </a:r>
            <a:endParaRPr lang="en-US" sz="1200" dirty="0"/>
          </a:p>
        </p:txBody>
      </p:sp>
      <p:sp>
        <p:nvSpPr>
          <p:cNvPr id="9" name="ci-head-3"/>
          <p:cNvSpPr/>
          <p:nvPr/>
        </p:nvSpPr>
        <p:spPr>
          <a:xfrm>
            <a:off x="8229600" y="2240280"/>
            <a:ext cx="338328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2240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When to run</a:t>
            </a:r>
            <a:endParaRPr lang="en-US" sz="1200" dirty="0"/>
          </a:p>
        </p:txBody>
      </p:sp>
      <p:sp>
        <p:nvSpPr>
          <p:cNvPr id="11" name="ci-cell-1-1"/>
          <p:cNvSpPr/>
          <p:nvPr/>
        </p:nvSpPr>
        <p:spPr>
          <a:xfrm>
            <a:off x="548640" y="2697480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697480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Code weaknesses (e.g. SQL injection)</a:t>
            </a:r>
            <a:endParaRPr lang="en-US" sz="1200" dirty="0"/>
          </a:p>
        </p:txBody>
      </p:sp>
      <p:sp>
        <p:nvSpPr>
          <p:cNvPr id="13" name="ci-cell-1-2"/>
          <p:cNvSpPr/>
          <p:nvPr/>
        </p:nvSpPr>
        <p:spPr>
          <a:xfrm>
            <a:off x="4206240" y="2697480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5968" y="2697480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Semgrep, CodeQL</a:t>
            </a:r>
            <a:endParaRPr lang="en-US" sz="1200" dirty="0"/>
          </a:p>
        </p:txBody>
      </p:sp>
      <p:sp>
        <p:nvSpPr>
          <p:cNvPr id="15" name="ci-cell-1-3"/>
          <p:cNvSpPr/>
          <p:nvPr/>
        </p:nvSpPr>
        <p:spPr>
          <a:xfrm>
            <a:off x="8229600" y="2697480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697480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pull request</a:t>
            </a:r>
            <a:endParaRPr lang="en-US" sz="1200" dirty="0"/>
          </a:p>
        </p:txBody>
      </p:sp>
      <p:sp>
        <p:nvSpPr>
          <p:cNvPr id="17" name="ci-cell-2-1"/>
          <p:cNvSpPr/>
          <p:nvPr/>
        </p:nvSpPr>
        <p:spPr>
          <a:xfrm>
            <a:off x="548640" y="3355848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355848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Known flaws in components you use</a:t>
            </a:r>
            <a:endParaRPr lang="en-US" sz="1200" dirty="0"/>
          </a:p>
        </p:txBody>
      </p:sp>
      <p:sp>
        <p:nvSpPr>
          <p:cNvPr id="19" name="ci-cell-2-2"/>
          <p:cNvSpPr/>
          <p:nvPr/>
        </p:nvSpPr>
        <p:spPr>
          <a:xfrm>
            <a:off x="4206240" y="3355848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15968" y="3355848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Dependabot, OSV-Scanner, Trivy</a:t>
            </a:r>
            <a:endParaRPr lang="en-US" sz="1200" dirty="0"/>
          </a:p>
        </p:txBody>
      </p:sp>
      <p:sp>
        <p:nvSpPr>
          <p:cNvPr id="21" name="ci-cell-2-3"/>
          <p:cNvSpPr/>
          <p:nvPr/>
        </p:nvSpPr>
        <p:spPr>
          <a:xfrm>
            <a:off x="8229600" y="3355848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39328" y="3355848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PR + daily</a:t>
            </a:r>
            <a:endParaRPr lang="en-US" sz="1200" dirty="0"/>
          </a:p>
        </p:txBody>
      </p:sp>
      <p:sp>
        <p:nvSpPr>
          <p:cNvPr id="23" name="ci-cell-3-1"/>
          <p:cNvSpPr/>
          <p:nvPr/>
        </p:nvSpPr>
        <p:spPr>
          <a:xfrm>
            <a:off x="548640" y="4014216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014216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Leaked secrets (keys, passwords)</a:t>
            </a:r>
            <a:endParaRPr lang="en-US" sz="1200" dirty="0"/>
          </a:p>
        </p:txBody>
      </p:sp>
      <p:sp>
        <p:nvSpPr>
          <p:cNvPr id="25" name="ci-cell-3-2"/>
          <p:cNvSpPr/>
          <p:nvPr/>
        </p:nvSpPr>
        <p:spPr>
          <a:xfrm>
            <a:off x="4206240" y="4014216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15968" y="4014216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gitleaks, trufflehog</a:t>
            </a:r>
            <a:endParaRPr lang="en-US" sz="1200" dirty="0"/>
          </a:p>
        </p:txBody>
      </p:sp>
      <p:sp>
        <p:nvSpPr>
          <p:cNvPr id="27" name="ci-cell-3-3"/>
          <p:cNvSpPr/>
          <p:nvPr/>
        </p:nvSpPr>
        <p:spPr>
          <a:xfrm>
            <a:off x="8229600" y="4014216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39328" y="4014216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commit</a:t>
            </a:r>
            <a:endParaRPr lang="en-US" sz="1200" dirty="0"/>
          </a:p>
        </p:txBody>
      </p:sp>
      <p:sp>
        <p:nvSpPr>
          <p:cNvPr id="29" name="ci-cell-4-1"/>
          <p:cNvSpPr/>
          <p:nvPr/>
        </p:nvSpPr>
        <p:spPr>
          <a:xfrm>
            <a:off x="548640" y="4672584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672584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Infrastructure misconfiguration (sudo, permissions, exposure)</a:t>
            </a:r>
            <a:endParaRPr lang="en-US" sz="1200" dirty="0"/>
          </a:p>
        </p:txBody>
      </p:sp>
      <p:sp>
        <p:nvSpPr>
          <p:cNvPr id="31" name="ci-cell-4-2"/>
          <p:cNvSpPr/>
          <p:nvPr/>
        </p:nvSpPr>
        <p:spPr>
          <a:xfrm>
            <a:off x="4206240" y="4672584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15968" y="4672584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Checkov, Trivy</a:t>
            </a:r>
            <a:endParaRPr lang="en-US" sz="1200" dirty="0"/>
          </a:p>
        </p:txBody>
      </p:sp>
      <p:sp>
        <p:nvSpPr>
          <p:cNvPr id="33" name="ci-cell-4-3"/>
          <p:cNvSpPr/>
          <p:nvPr/>
        </p:nvSpPr>
        <p:spPr>
          <a:xfrm>
            <a:off x="8229600" y="4672584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39328" y="4672584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config change</a:t>
            </a:r>
            <a:endParaRPr lang="en-US" sz="1200" dirty="0"/>
          </a:p>
        </p:txBody>
      </p:sp>
      <p:sp>
        <p:nvSpPr>
          <p:cNvPr id="35" name="ci-cell-5-1"/>
          <p:cNvSpPr/>
          <p:nvPr/>
        </p:nvSpPr>
        <p:spPr>
          <a:xfrm>
            <a:off x="548640" y="5330952"/>
            <a:ext cx="356616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5330952"/>
            <a:ext cx="3346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Offensive testing of the running app</a:t>
            </a:r>
            <a:endParaRPr lang="en-US" sz="1200" dirty="0"/>
          </a:p>
        </p:txBody>
      </p:sp>
      <p:sp>
        <p:nvSpPr>
          <p:cNvPr id="37" name="ci-cell-5-2"/>
          <p:cNvSpPr/>
          <p:nvPr/>
        </p:nvSpPr>
        <p:spPr>
          <a:xfrm>
            <a:off x="4206240" y="5330952"/>
            <a:ext cx="393192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315968" y="5330952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OWASP ZAP, Nuclei, Strix</a:t>
            </a:r>
            <a:endParaRPr lang="en-US" sz="1200" dirty="0"/>
          </a:p>
        </p:txBody>
      </p:sp>
      <p:sp>
        <p:nvSpPr>
          <p:cNvPr id="39" name="ci-cell-5-3"/>
          <p:cNvSpPr/>
          <p:nvPr/>
        </p:nvSpPr>
        <p:spPr>
          <a:xfrm>
            <a:off x="8229600" y="5330952"/>
            <a:ext cx="3383280" cy="585216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39328" y="5330952"/>
            <a:ext cx="3163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Against test env: before release + weekly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The yellow row is the same kind of check the attackers ran in this campaign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to run the scanners</a:t>
            </a:r>
            <a:endParaRPr lang="en-US" sz="3200" dirty="0"/>
          </a:p>
        </p:txBody>
      </p:sp>
      <p:sp>
        <p:nvSpPr>
          <p:cNvPr id="3" name="env-card-1"/>
          <p:cNvSpPr/>
          <p:nvPr/>
        </p:nvSpPr>
        <p:spPr>
          <a:xfrm>
            <a:off x="54864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env-card-head-1"/>
          <p:cNvSpPr/>
          <p:nvPr/>
        </p:nvSpPr>
        <p:spPr>
          <a:xfrm>
            <a:off x="54864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environment (offensive scans go here)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Point them at a production-like environment with dummy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Why: automated attack tools also change and delete database content. In the Gambit report, an agent's cleanup dropped 180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a separate network from production; keep no production data or credentials there</a:t>
            </a:r>
            <a:endParaRPr lang="en-US" sz="1200" dirty="0"/>
          </a:p>
        </p:txBody>
      </p:sp>
      <p:sp>
        <p:nvSpPr>
          <p:cNvPr id="7" name="env-card-2"/>
          <p:cNvSpPr/>
          <p:nvPr/>
        </p:nvSpPr>
        <p:spPr>
          <a:xfrm>
            <a:off x="429768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8" name="env-card-head-2"/>
          <p:cNvSpPr/>
          <p:nvPr/>
        </p:nvSpPr>
        <p:spPr>
          <a:xfrm>
            <a:off x="429768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Against production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offensive scans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Focus on externally visible scans (open ports, exposed admin pages) and checkout page change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If you must: only an authorized scope, with write operations avoided</a:t>
            </a:r>
            <a:endParaRPr lang="en-US" sz="1200" dirty="0"/>
          </a:p>
        </p:txBody>
      </p:sp>
      <p:sp>
        <p:nvSpPr>
          <p:cNvPr id="11" name="env-card-3"/>
          <p:cNvSpPr/>
          <p:nvPr/>
        </p:nvSpPr>
        <p:spPr>
          <a:xfrm>
            <a:off x="8046720" y="13716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2" name="env-card-head-3"/>
          <p:cNvSpPr/>
          <p:nvPr/>
        </p:nvSpPr>
        <p:spPr>
          <a:xfrm>
            <a:off x="8046720" y="1371600"/>
            <a:ext cx="35661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838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 is a target too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0116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 collects keys and passwords; a breach there is costly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disposable runners with no production privileges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Scanning AIs like Strix need an LLM API key, and the target's code and responses go to the LLM side. Check this first</a:t>
            </a:r>
            <a:endParaRPr lang="en-US" sz="1200" dirty="0"/>
          </a:p>
        </p:txBody>
      </p:sp>
      <p:sp>
        <p:nvSpPr>
          <p:cNvPr id="15" name="first-steps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First steps (if starting small)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secret detection and dependency scanning on every pull request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 a test environment and run ZAP-style scans weekly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53492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5285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Detect script changes on the checkout page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to point the scanners at (FQDN, IP, or code)</a:t>
            </a:r>
            <a:endParaRPr lang="en-US" sz="3200" dirty="0"/>
          </a:p>
        </p:txBody>
      </p:sp>
      <p:sp>
        <p:nvSpPr>
          <p:cNvPr id="3" name="target-card-1"/>
          <p:cNvSpPr/>
          <p:nvPr/>
        </p:nvSpPr>
        <p:spPr>
          <a:xfrm>
            <a:off x="54864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arget-head-1"/>
          <p:cNvSpPr/>
          <p:nvPr/>
        </p:nvSpPr>
        <p:spPr>
          <a:xfrm>
            <a:off x="54864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Against an FQDN / URL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https://shop.example.com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Web-app testers (OWASP ZAP, Nuclei, Strix)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Why a URL: several sites can sit behind one IP, so an IP alone may not reach the intended site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Allows site-level checks such as the HTTPS certificate and post-login pages</a:t>
            </a:r>
            <a:endParaRPr lang="en-US" sz="1100" dirty="0"/>
          </a:p>
        </p:txBody>
      </p:sp>
      <p:sp>
        <p:nvSpPr>
          <p:cNvPr id="8" name="target-card-2"/>
          <p:cNvSpPr/>
          <p:nvPr/>
        </p:nvSpPr>
        <p:spPr>
          <a:xfrm>
            <a:off x="429768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9" name="target-head-2"/>
          <p:cNvSpPr/>
          <p:nvPr/>
        </p:nvSpPr>
        <p:spPr>
          <a:xfrm>
            <a:off x="429768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Against an IP / network range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203.0.113.0/24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Server and network scanners (Nmap, Nessus, OpenVAS)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Look at open ports, running services, and known flaws in the OS and middleware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Given a domain name, the tool resolves it to an IP internally</a:t>
            </a:r>
            <a:endParaRPr lang="en-US" sz="1100" dirty="0"/>
          </a:p>
        </p:txBody>
      </p:sp>
      <p:sp>
        <p:nvSpPr>
          <p:cNvPr id="13" name="target-card-3"/>
          <p:cNvSpPr/>
          <p:nvPr/>
        </p:nvSpPr>
        <p:spPr>
          <a:xfrm>
            <a:off x="804672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4" name="target-head-3"/>
          <p:cNvSpPr/>
          <p:nvPr/>
        </p:nvSpPr>
        <p:spPr>
          <a:xfrm>
            <a:off x="8046720" y="137160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Against code / config files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/ image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Semgrep, gitleaks, Checkov, Trivy and others run in CI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network connection: they read the repository or image directly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Use neither an FQDN nor an IP</a:t>
            </a:r>
            <a:endParaRPr lang="en-US" sz="1100" dirty="0"/>
          </a:p>
        </p:txBody>
      </p:sp>
      <p:sp>
        <p:nvSpPr>
          <p:cNvPr id="18" name="target-attacker"/>
          <p:cNvSpPr/>
          <p:nvPr/>
        </p:nvSpPr>
        <p:spPr>
          <a:xfrm>
            <a:off x="548640" y="4297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370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the attackers did 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091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targets were a list of store sites (domains): 301 were fed in, scanned through proxies, high-risk ones only. They looked for an entry point per domain and, once in, moved on to internal IPs and server configuration.</a:t>
            </a:r>
            <a:endParaRPr lang="en-US" sz="1100" dirty="0"/>
          </a:p>
        </p:txBody>
      </p:sp>
      <p:sp>
        <p:nvSpPr>
          <p:cNvPr id="21" name="target-defender"/>
          <p:cNvSpPr/>
          <p:nvPr/>
        </p:nvSpPr>
        <p:spPr>
          <a:xfrm>
            <a:off x="6217920" y="429768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370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Tips for defenders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091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Keep an inventory of both domains and IPs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List the IPs your domains use and check for unknown servers or admin pages left open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Include forgotten subdomains (old test sites etc.); attackers find them first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Only scan what you manage yourself or have written permission to test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to scan: finding everything you own</a:t>
            </a:r>
            <a:endParaRPr lang="en-US" sz="3200" dirty="0"/>
          </a:p>
        </p:txBody>
      </p:sp>
      <p:sp>
        <p:nvSpPr>
          <p:cNvPr id="3" name="asset-concl"/>
          <p:cNvSpPr/>
          <p:nvPr/>
        </p:nvSpPr>
        <p:spPr>
          <a:xfrm>
            <a:off x="548640" y="13716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Attackers find the forgotten things first. Defenders should also start by listing everything they own, with no gaps</a:t>
            </a:r>
            <a:endParaRPr lang="en-US" sz="1300" dirty="0"/>
          </a:p>
        </p:txBody>
      </p:sp>
      <p:sp>
        <p:nvSpPr>
          <p:cNvPr id="5" name="asset-label-1"/>
          <p:cNvSpPr/>
          <p:nvPr/>
        </p:nvSpPr>
        <p:spPr>
          <a:xfrm>
            <a:off x="548640" y="2148840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Domains and subdomains</a:t>
            </a:r>
            <a:endParaRPr lang="en-US" sz="1200" dirty="0"/>
          </a:p>
        </p:txBody>
      </p:sp>
      <p:sp>
        <p:nvSpPr>
          <p:cNvPr id="7" name="asset-body-1"/>
          <p:cNvSpPr/>
          <p:nvPr/>
        </p:nvSpPr>
        <p:spPr>
          <a:xfrm>
            <a:off x="3291840" y="214884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1568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DNS console and cloud DNS lists (e.g. Route 53), public certificate logs (crt.sh), subfinder, Amass</a:t>
            </a:r>
            <a:endParaRPr lang="en-US" sz="1050" dirty="0"/>
          </a:p>
        </p:txBody>
      </p:sp>
      <p:sp>
        <p:nvSpPr>
          <p:cNvPr id="9" name="asset-label-2"/>
          <p:cNvSpPr/>
          <p:nvPr/>
        </p:nvSpPr>
        <p:spPr>
          <a:xfrm>
            <a:off x="548640" y="2679192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79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Externally visible IPs and ports</a:t>
            </a:r>
            <a:endParaRPr lang="en-US" sz="1200" dirty="0"/>
          </a:p>
        </p:txBody>
      </p:sp>
      <p:sp>
        <p:nvSpPr>
          <p:cNvPr id="11" name="asset-body-2"/>
          <p:cNvSpPr/>
          <p:nvPr/>
        </p:nvSpPr>
        <p:spPr>
          <a:xfrm>
            <a:off x="3291840" y="2679192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01568" y="2679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Cloud IP lists, Nmap on your own IP ranges, Shodan / Censys searches</a:t>
            </a:r>
            <a:endParaRPr lang="en-US" sz="1050" dirty="0"/>
          </a:p>
        </p:txBody>
      </p:sp>
      <p:sp>
        <p:nvSpPr>
          <p:cNvPr id="13" name="asset-label-3"/>
          <p:cNvSpPr/>
          <p:nvPr/>
        </p:nvSpPr>
        <p:spPr>
          <a:xfrm>
            <a:off x="548640" y="3209544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095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Running websites</a:t>
            </a:r>
            <a:endParaRPr lang="en-US" sz="1200" dirty="0"/>
          </a:p>
        </p:txBody>
      </p:sp>
      <p:sp>
        <p:nvSpPr>
          <p:cNvPr id="15" name="asset-body-3"/>
          <p:cNvSpPr/>
          <p:nvPr/>
        </p:nvSpPr>
        <p:spPr>
          <a:xfrm>
            <a:off x="3291840" y="3209544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1568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Connect to the lists above with httpx or similar and see what actually responds</a:t>
            </a:r>
            <a:endParaRPr lang="en-US" sz="1050" dirty="0"/>
          </a:p>
        </p:txBody>
      </p:sp>
      <p:sp>
        <p:nvSpPr>
          <p:cNvPr id="17" name="asset-label-4"/>
          <p:cNvSpPr/>
          <p:nvPr/>
        </p:nvSpPr>
        <p:spPr>
          <a:xfrm>
            <a:off x="548640" y="3739896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39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Cloud resources</a:t>
            </a:r>
            <a:endParaRPr lang="en-US" sz="1200" dirty="0"/>
          </a:p>
        </p:txBody>
      </p:sp>
      <p:sp>
        <p:nvSpPr>
          <p:cNvPr id="19" name="asset-body-4"/>
          <p:cNvSpPr/>
          <p:nvPr/>
        </p:nvSpPr>
        <p:spPr>
          <a:xfrm>
            <a:off x="3291840" y="3739896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37398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AWS Config, Resource Explorer, each cloud's asset inventory</a:t>
            </a:r>
            <a:endParaRPr lang="en-US" sz="1050" dirty="0"/>
          </a:p>
        </p:txBody>
      </p:sp>
      <p:sp>
        <p:nvSpPr>
          <p:cNvPr id="21" name="asset-label-5"/>
          <p:cNvSpPr/>
          <p:nvPr/>
        </p:nvSpPr>
        <p:spPr>
          <a:xfrm>
            <a:off x="548640" y="4270248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270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Code repositories</a:t>
            </a:r>
            <a:endParaRPr lang="en-US" sz="1200" dirty="0"/>
          </a:p>
        </p:txBody>
      </p:sp>
      <p:sp>
        <p:nvSpPr>
          <p:cNvPr id="23" name="asset-body-5"/>
          <p:cNvSpPr/>
          <p:nvPr/>
        </p:nvSpPr>
        <p:spPr>
          <a:xfrm>
            <a:off x="3291840" y="4270248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01568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Organization-wide list on GitHub etc., including old and unused ones</a:t>
            </a:r>
            <a:endParaRPr lang="en-US" sz="1050" dirty="0"/>
          </a:p>
        </p:txBody>
      </p:sp>
      <p:sp>
        <p:nvSpPr>
          <p:cNvPr id="25" name="asset-steps"/>
          <p:cNvSpPr/>
          <p:nvPr/>
        </p:nvSpPr>
        <p:spPr>
          <a:xfrm>
            <a:off x="7726680" y="2148840"/>
            <a:ext cx="388620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to proceed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26060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5420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Put domains, IPs, repositories and cloud resources into one inventory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31363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072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Investigate what is found but not in the inventory (forgotten test sites, old subdomains): the biggest payoff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366674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36027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Assign an owner and a scan type (code, network, web app) to each item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41970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41330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Repeat the discovery regularly so new things enter the inventory</a:t>
            </a:r>
            <a:endParaRPr lang="en-US" sz="1050" dirty="0"/>
          </a:p>
        </p:txBody>
      </p:sp>
      <p:sp>
        <p:nvSpPr>
          <p:cNvPr id="35" name="asset-ci"/>
          <p:cNvSpPr/>
          <p:nvPr/>
        </p:nvSpPr>
        <p:spPr>
          <a:xfrm>
            <a:off x="548640" y="489204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For CI tools (Semgrep, gitleaks, etc.) the target is the repository: list every repository in the organization, enable scanning on all of them, and regularly check that none is missing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As with scanning, run discovery only on what you manage or have permission to test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companies should have done beforehand</a:t>
            </a:r>
            <a:endParaRPr lang="en-US" sz="3200" dirty="0"/>
          </a:p>
        </p:txBody>
      </p:sp>
      <p:sp>
        <p:nvSpPr>
          <p:cNvPr id="3" name="action-card-1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Checkout page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 script sources with CSP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SRI to every script tag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 payment to a provider iframe</a:t>
            </a:r>
            <a:endParaRPr lang="en-US" sz="1400" dirty="0"/>
          </a:p>
        </p:txBody>
      </p:sp>
      <p:sp>
        <p:nvSpPr>
          <p:cNvPr id="7" name="action-card-2"/>
          <p:cNvSpPr/>
          <p:nvPr/>
        </p:nvSpPr>
        <p:spPr>
          <a:xfrm>
            <a:off x="429768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Served files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the web root read-only to the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JS hashes hourly after deploy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 immediately on any difference</a:t>
            </a:r>
            <a:endParaRPr lang="en-US" sz="1400" dirty="0"/>
          </a:p>
        </p:txBody>
      </p:sp>
      <p:sp>
        <p:nvSpPr>
          <p:cNvPr id="11" name="action-card-3"/>
          <p:cNvSpPr/>
          <p:nvPr/>
        </p:nvSpPr>
        <p:spPr>
          <a:xfrm>
            <a:off x="804672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48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only parameterized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Allow-list upload file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 uploads outside the web root</a:t>
            </a:r>
            <a:endParaRPr lang="en-US" sz="1400" dirty="0"/>
          </a:p>
        </p:txBody>
      </p:sp>
      <p:sp>
        <p:nvSpPr>
          <p:cNvPr id="15" name="action-card-4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 and admin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OTPs; expire in 5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 attempts and lock on excess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Put admin behind VPN or IP allow-list</a:t>
            </a:r>
            <a:endParaRPr lang="en-US" sz="1400" dirty="0"/>
          </a:p>
        </p:txBody>
      </p:sp>
      <p:sp>
        <p:nvSpPr>
          <p:cNvPr id="19" name="action-card-5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2628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Servers and cloud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NOPASSWD from sudoers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use no_root_squash on NFS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Grant secrets per use, least privilege</a:t>
            </a:r>
            <a:endParaRPr lang="en-US" sz="1400" dirty="0"/>
          </a:p>
        </p:txBody>
      </p:sp>
      <p:sp>
        <p:nvSpPr>
          <p:cNvPr id="23" name="action-card-6"/>
          <p:cNvSpPr/>
          <p:nvPr/>
        </p:nvSpPr>
        <p:spPr>
          <a:xfrm>
            <a:off x="804672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Backup and detection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617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Copy backups to a separate account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them undeletable (Object Lock)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Alert on new admins and bulk key 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Recovery and detection</a:t>
            </a:r>
            <a:endParaRPr lang="en-US" sz="3200" dirty="0"/>
          </a:p>
        </p:txBody>
      </p:sp>
      <p:sp>
        <p:nvSpPr>
          <p:cNvPr id="3" name="recovery-card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pic>
        <p:nvPicPr>
          <p:cNvPr id="4" name="Image 0" descr="Recov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Recovery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Isolate backups in a separate account and make them undeletable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Define the minimum set of systems the business needs to operate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 not stop at restoring the database; rehearse bringing the service back</a:t>
            </a:r>
            <a:endParaRPr lang="en-US" sz="1600" dirty="0"/>
          </a:p>
        </p:txBody>
      </p:sp>
      <p:sp>
        <p:nvSpPr>
          <p:cNvPr id="7" name="detection-card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pic>
        <p:nvPicPr>
          <p:cNvPr id="8" name="Image 1" descr="De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Detection and response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admin-panel logins, new admin accounts, unexpected uploads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Rate limiting and bot defense for bursts of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Suspicious outbound DNS/HTTP traffic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 against Gambit's published IOCs (domains and IPs)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isolation and response at machine speed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Priority roadmap</a:t>
            </a:r>
            <a:endParaRPr lang="en-US" sz="3200" dirty="0"/>
          </a:p>
        </p:txBody>
      </p:sp>
      <p:sp>
        <p:nvSpPr>
          <p:cNvPr id="3" name="roadmap-col-1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roadmap-chip-1"/>
          <p:cNvSpPr/>
          <p:nvPr/>
        </p:nvSpPr>
        <p:spPr>
          <a:xfrm>
            <a:off x="777240" y="16916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This week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checkout-page scripts; add CSP and SRI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admin exposure and MFA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 Gambit's published IOCs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 backup isolation</a:t>
            </a:r>
            <a:endParaRPr lang="en-US" sz="1400" dirty="0"/>
          </a:p>
        </p:txBody>
      </p:sp>
      <p:sp>
        <p:nvSpPr>
          <p:cNvPr id="7" name="roadmap-col-2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8" name="roadmap-chip-2"/>
          <p:cNvSpPr/>
          <p:nvPr/>
        </p:nvSpPr>
        <p:spPr>
          <a:xfrm>
            <a:off x="4526280" y="16916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This month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an AI scan on staging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 known patterns: SQLi, uploads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IAM, sudo, and secrets</a:t>
            </a:r>
            <a:endParaRPr lang="en-US" sz="1400" dirty="0"/>
          </a:p>
        </p:txBody>
      </p:sp>
      <p:sp>
        <p:nvSpPr>
          <p:cNvPr id="11" name="roadmap-col-3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roadmap-chip-3"/>
          <p:cNvSpPr/>
          <p:nvPr/>
        </p:nvSpPr>
        <p:spPr>
          <a:xfrm>
            <a:off x="8275320" y="1691640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This quarter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Tokenize card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 scans in CI/CD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Rehearse minimum-viable-business recovery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automated detection and response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Reading the numbers and the coverage</a:t>
            </a:r>
            <a:endParaRPr lang="en-US" sz="3200" dirty="0"/>
          </a:p>
        </p:txBody>
      </p:sp>
      <p:sp>
        <p:nvSpPr>
          <p:cNvPr id="3" name="number-card-1"/>
          <p:cNvSpPr/>
          <p:nvPr/>
        </p:nvSpPr>
        <p:spPr>
          <a:xfrm>
            <a:off x="548640" y="1463040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600K+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6304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Card records stolen (two companies); 488,372 issued in the US (79%)</a:t>
            </a:r>
            <a:endParaRPr lang="en-US" sz="1400" dirty="0"/>
          </a:p>
        </p:txBody>
      </p:sp>
      <p:sp>
        <p:nvSpPr>
          <p:cNvPr id="6" name="number-card-2"/>
          <p:cNvSpPr/>
          <p:nvPr/>
        </p:nvSpPr>
        <p:spPr>
          <a:xfrm>
            <a:off x="548640" y="2633472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33472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27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633472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Companies named as targets by Gambit</a:t>
            </a:r>
            <a:endParaRPr lang="en-US" sz="1400" dirty="0"/>
          </a:p>
        </p:txBody>
      </p:sp>
      <p:sp>
        <p:nvSpPr>
          <p:cNvPr id="9" name="number-card-3"/>
          <p:cNvSpPr/>
          <p:nvPr/>
        </p:nvSpPr>
        <p:spPr>
          <a:xfrm>
            <a:off x="548640" y="3803904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03904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803904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those 27, companies with a confirmed skimmer</a:t>
            </a:r>
            <a:endParaRPr lang="en-US" sz="1400" dirty="0"/>
          </a:p>
        </p:txBody>
      </p:sp>
      <p:sp>
        <p:nvSpPr>
          <p:cNvPr id="12" name="number-card-4"/>
          <p:cNvSpPr/>
          <p:nvPr/>
        </p:nvSpPr>
        <p:spPr>
          <a:xfrm>
            <a:off x="548640" y="4974336"/>
            <a:ext cx="57607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74336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119 sites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974336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BleepingComputer's count: the 19 plus 100+ other infected sites</a:t>
            </a:r>
            <a:endParaRPr lang="en-US" sz="1400" dirty="0"/>
          </a:p>
        </p:txBody>
      </p:sp>
      <p:sp>
        <p:nvSpPr>
          <p:cNvPr id="15" name="rw-card"/>
          <p:cNvSpPr/>
          <p:nvPr/>
        </p:nvSpPr>
        <p:spPr>
          <a:xfrm>
            <a:off x="6583680" y="1463040"/>
            <a:ext cx="5029200" cy="45720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RuntimeWire's points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 studies a problem its own product addresses, so a conflict of interest is possible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Counts mix direct evidence, verified live compromises, and agent logs; not a full 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report is interim, and the real scale may be larger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Victim names and the final infected-site count are not public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Takeaway: measure whether you can recover, how fast, and at what cost, not just whether backups exist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three sources differ</a:t>
            </a:r>
            <a:endParaRPr lang="en-US" sz="3200" dirty="0"/>
          </a:p>
        </p:txBody>
      </p:sp>
      <p:sp>
        <p:nvSpPr>
          <p:cNvPr id="3" name="source-card-1"/>
          <p:cNvSpPr/>
          <p:nvPr/>
        </p:nvSpPr>
        <p:spPr>
          <a:xfrm>
            <a:off x="54864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Gambit Security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Primary source (original report)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Reconstructed from the recovered attacker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Includes the intrusion chain, skimmer methods, and IOCs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Evidence in three tiers: server data, verified live, AI logs</a:t>
            </a:r>
            <a:endParaRPr lang="en-US" sz="1400" dirty="0"/>
          </a:p>
        </p:txBody>
      </p:sp>
      <p:sp>
        <p:nvSpPr>
          <p:cNvPr id="8" name="source-card-2"/>
          <p:cNvSpPr/>
          <p:nvPr/>
        </p:nvSpPr>
        <p:spPr>
          <a:xfrm>
            <a:off x="429768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BleepingComputer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News summary and awareness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119 infected sites (Gambit: 19 companies plus 100+ sites)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Notes Cairn is not the same-name AI analysis tool Cisco Talos released a day earlier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Warns that low cost lowers the barrier to entry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no new defensive advice</a:t>
            </a:r>
            <a:endParaRPr lang="en-US" sz="1400" dirty="0"/>
          </a:p>
        </p:txBody>
      </p:sp>
      <p:sp>
        <p:nvSpPr>
          <p:cNvPr id="13" name="source-card-3"/>
          <p:cNvSpPr/>
          <p:nvPr/>
        </p:nvSpPr>
        <p:spPr>
          <a:xfrm>
            <a:off x="8046720" y="146304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RuntimeWire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Clarifying the numbers, with critique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Sorts out how 27, 19, and 119 relate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Flags Gambit's position and that the report is interim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Urges measuring recoverability, speed, and cost</a:t>
            </a:r>
            <a:endParaRPr lang="en-US" sz="1400" dirty="0"/>
          </a:p>
        </p:txBody>
      </p:sp>
      <p:sp>
        <p:nvSpPr>
          <p:cNvPr id="18" name="source-note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 three start from Gambit's research; none is an independent confirmation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Limits of this deck and sources</a:t>
            </a:r>
            <a:endParaRPr lang="en-US" sz="3200" dirty="0"/>
          </a:p>
        </p:txBody>
      </p:sp>
      <p:sp>
        <p:nvSpPr>
          <p:cNvPr id="3" name="limits-card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Based on the READMEs and AGENTS.md of three repositories plus public reports. In addition, parts of Strix's code (agents_graph, system prompt) and Cairn's design doc were checked. No tool was run and no full code analysis was 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Gambit sells defensive products, so its conclusions may reflect that position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119 sites (BleepingComputer) counts infected sites; 27 and 19 companies (Gambit) are separate tallies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Some AI logs and claims remain unverified</a:t>
            </a:r>
            <a:endParaRPr lang="en-US" sz="1400" dirty="0"/>
          </a:p>
        </p:txBody>
      </p:sp>
      <p:sp>
        <p:nvSpPr>
          <p:cNvPr id="6" name="sources-card"/>
          <p:cNvSpPr/>
          <p:nvPr/>
        </p:nvSpPr>
        <p:spPr>
          <a:xfrm>
            <a:off x="6309360" y="146304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Sources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Gambit Security (original report)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gambit.security/blog-posts/autonomous-ai-agents-online-retailers-25-a-company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Gambit Security (Cyber Resilience article)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gambit.security/blog-posts/what-is-cyber-resilience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BleepingComputer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bleepingcomputer.com/news/security/malicious-ai-agents-steal-600k-credit-cards-infect-100-plus-sites-with-skimmers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RuntimeWire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runtimewire.com/article/gambit-ai-agents-credit-card-skimmers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Cloud Security Alliance (PCI DSS 6.4.3 and 11.6.1)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cloudsecurityalliance.org/blog/2026/07/23/pci-dss-6-4-3-and-11-6-1-a-deep-dive-…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Cloudflare (Client-side Security)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developers.cloudflare.com/page-shield/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GitHub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github.com/usestrix/strix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github.com/oritera/Cairn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github.com/NousResearch/hermes-agent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1: Timeline and partners</a:t>
            </a:r>
            <a:endParaRPr lang="en-US" sz="3200" dirty="0"/>
          </a:p>
        </p:txBody>
      </p:sp>
      <p:sp>
        <p:nvSpPr>
          <p:cNvPr id="3" name="timeline-1"/>
          <p:cNvSpPr/>
          <p:nvPr/>
        </p:nvSpPr>
        <p:spPr>
          <a:xfrm>
            <a:off x="54864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July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Campaign begins (Gambit estimate); dozens of companies affected since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090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timeline-2"/>
          <p:cNvSpPr/>
          <p:nvPr/>
        </p:nvSpPr>
        <p:spPr>
          <a:xfrm>
            <a:off x="278892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Aug 23–31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Strix run 146 times in deep mode against 138 hosts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0118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timeline-3"/>
          <p:cNvSpPr/>
          <p:nvPr/>
        </p:nvSpPr>
        <p:spPr>
          <a:xfrm>
            <a:off x="502920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Aug 25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OpenRouter balance checked: $7,005.71 spent over 4 weeks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4146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timeline-4"/>
          <p:cNvSpPr/>
          <p:nvPr/>
        </p:nvSpPr>
        <p:spPr>
          <a:xfrm>
            <a:off x="726948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236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Sept 10–15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Cairn runs 105 projects; 27+ companies breached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1744" y="2331720"/>
            <a:ext cx="118872" cy="22860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3" name="timeline-5"/>
          <p:cNvSpPr/>
          <p:nvPr/>
        </p:nvSpPr>
        <p:spPr>
          <a:xfrm>
            <a:off x="950976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536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Sept 22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Gambit publishes its report; attacks still ongoing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Partners and roles</a:t>
            </a:r>
            <a:endParaRPr lang="en-US" sz="1600" dirty="0"/>
          </a:p>
        </p:txBody>
      </p:sp>
      <p:sp>
        <p:nvSpPr>
          <p:cNvPr id="28" name="partner-1"/>
          <p:cNvSpPr/>
          <p:nvPr/>
        </p:nvSpPr>
        <p:spPr>
          <a:xfrm>
            <a:off x="548640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Shadowserver Foundation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Helped notify victims and take down attack infrastructure</a:t>
            </a:r>
            <a:endParaRPr lang="en-US" sz="1200" dirty="0"/>
          </a:p>
        </p:txBody>
      </p:sp>
      <p:sp>
        <p:nvSpPr>
          <p:cNvPr id="31" name="partner-2"/>
          <p:cNvSpPr/>
          <p:nvPr/>
        </p:nvSpPr>
        <p:spPr>
          <a:xfrm>
            <a:off x="3353105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35985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Daniel Gordon and other industry helpers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35985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Helped with notification and investigation</a:t>
            </a:r>
            <a:endParaRPr lang="en-US" sz="1200" dirty="0"/>
          </a:p>
        </p:txBody>
      </p:sp>
      <p:sp>
        <p:nvSpPr>
          <p:cNvPr id="34" name="partner-3"/>
          <p:cNvSpPr/>
          <p:nvPr/>
        </p:nvSpPr>
        <p:spPr>
          <a:xfrm>
            <a:off x="6157570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40450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Overwatch Data (fraud prevention)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340450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Processed stolen cards and notified issuers</a:t>
            </a:r>
            <a:endParaRPr lang="en-US" sz="1200" dirty="0"/>
          </a:p>
        </p:txBody>
      </p:sp>
      <p:sp>
        <p:nvSpPr>
          <p:cNvPr id="37" name="partner-4"/>
          <p:cNvSpPr/>
          <p:nvPr/>
        </p:nvSpPr>
        <p:spPr>
          <a:xfrm>
            <a:off x="8962034" y="4114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914" y="4224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Varys (security researcher)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144914" y="4754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Helped detect the 100+ infected sites</a:t>
            </a:r>
            <a:endParaRPr lang="en-US" sz="1200" dirty="0"/>
          </a:p>
        </p:txBody>
      </p:sp>
      <p:sp>
        <p:nvSpPr>
          <p:cNvPr id="40" name="partner-note"/>
          <p:cNvSpPr/>
          <p:nvPr/>
        </p:nvSpPr>
        <p:spPr>
          <a:xfrm>
            <a:off x="548640" y="5623560"/>
            <a:ext cx="110642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Gambit contacted many victims and also took action to disable the attack infrastructure it found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 (Sept 22,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2: Scale, cost and victim details</a:t>
            </a:r>
            <a:endParaRPr lang="en-US" sz="3200" dirty="0"/>
          </a:p>
        </p:txBody>
      </p:sp>
      <p:sp>
        <p:nvSpPr>
          <p:cNvPr id="3" name="scale-card-1"/>
          <p:cNvSpPr/>
          <p:nvPr/>
        </p:nvSpPr>
        <p:spPr>
          <a:xfrm>
            <a:off x="54864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Cairn attack projects (Sept 10–15)</a:t>
            </a:r>
            <a:endParaRPr lang="en-US" sz="1200" dirty="0"/>
          </a:p>
        </p:txBody>
      </p:sp>
      <p:sp>
        <p:nvSpPr>
          <p:cNvPr id="6" name="scale-card-2"/>
          <p:cNvSpPr/>
          <p:nvPr/>
        </p:nvSpPr>
        <p:spPr>
          <a:xfrm>
            <a:off x="429768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projects could be analyzed; the other 57 were deleted</a:t>
            </a:r>
            <a:endParaRPr lang="en-US" sz="1200" dirty="0"/>
          </a:p>
        </p:txBody>
      </p:sp>
      <p:sp>
        <p:nvSpPr>
          <p:cNvPr id="9" name="scale-card-3"/>
          <p:cNvSpPr/>
          <p:nvPr/>
        </p:nvSpPr>
        <p:spPr>
          <a:xfrm>
            <a:off x="8046720" y="137160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27+ companies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confirmed breached (to varying degrees)</a:t>
            </a:r>
            <a:endParaRPr lang="en-US" sz="1200" dirty="0"/>
          </a:p>
        </p:txBody>
      </p:sp>
      <p:sp>
        <p:nvSpPr>
          <p:cNvPr id="12" name="scale-card-4"/>
          <p:cNvSpPr/>
          <p:nvPr/>
        </p:nvSpPr>
        <p:spPr>
          <a:xfrm>
            <a:off x="54864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 / 19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Confirmed skimmer installs: the report opens with 5, later says 19 of 27</a:t>
            </a:r>
            <a:endParaRPr lang="en-US" sz="1200" dirty="0"/>
          </a:p>
        </p:txBody>
      </p:sp>
      <p:sp>
        <p:nvSpPr>
          <p:cNvPr id="15" name="scale-card-5"/>
          <p:cNvSpPr/>
          <p:nvPr/>
        </p:nvSpPr>
        <p:spPr>
          <a:xfrm>
            <a:off x="429768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$25.46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cost over 101 scans ($3.13–$79.31)</a:t>
            </a:r>
            <a:endParaRPr lang="en-US" sz="1200" dirty="0"/>
          </a:p>
        </p:txBody>
      </p:sp>
      <p:sp>
        <p:nvSpPr>
          <p:cNvPr id="18" name="scale-card-6"/>
          <p:cNvSpPr/>
          <p:nvPr/>
        </p:nvSpPr>
        <p:spPr>
          <a:xfrm>
            <a:off x="804672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$12,000–18,000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Estimated total cost: $7,005.71 in 4 weeks, then double the usage over 3 more weeks</a:t>
            </a:r>
            <a:endParaRPr lang="en-US" sz="1200" dirty="0"/>
          </a:p>
        </p:txBody>
      </p:sp>
      <p:sp>
        <p:nvSpPr>
          <p:cNvPr id="21" name="victims-card"/>
          <p:cNvSpPr/>
          <p:nvPr/>
        </p:nvSpPr>
        <p:spPr>
          <a:xfrm>
            <a:off x="548640" y="429768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Types of affected companies (some level of access reported)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Fortune 500 hospitality company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major US airline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large privately held US industrial supplies distributor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US online apparel retailer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 (Sept 22,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3: How targets were chosen</a:t>
            </a:r>
            <a:endParaRPr lang="en-US" sz="3200" dirty="0"/>
          </a:p>
        </p:txBody>
      </p:sp>
      <p:sp>
        <p:nvSpPr>
          <p:cNvPr id="3" name="select-step-1"/>
          <p:cNvSpPr/>
          <p:nvPr/>
        </p:nvSpPr>
        <p:spPr>
          <a:xfrm>
            <a:off x="54864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Pull shopping category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 the shopping vertical from a web traffic-ranking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4553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select-step-2"/>
          <p:cNvSpPr/>
          <p:nvPr/>
        </p:nvSpPr>
        <p:spPr>
          <a:xfrm>
            <a:off x="338328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Exclude major platforms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Drop stores on big commercial and open-source platforms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select-step-3"/>
          <p:cNvSpPr/>
          <p:nvPr/>
        </p:nvSpPr>
        <p:spPr>
          <a:xfrm>
            <a:off x="621792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Keep custom-code stores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attacker bet that custom builds are more vulnerable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14816" y="2331720"/>
            <a:ext cx="201168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select-step-4"/>
          <p:cNvSpPr/>
          <p:nvPr/>
        </p:nvSpPr>
        <p:spPr>
          <a:xfrm>
            <a:off x="9052560" y="13716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in bulk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301 fed in; scanned via proxies, high-risk only</a:t>
            </a:r>
            <a:endParaRPr lang="en-US" sz="1200" dirty="0"/>
          </a:p>
        </p:txBody>
      </p:sp>
      <p:sp>
        <p:nvSpPr>
          <p:cNvPr id="22" name="select-other"/>
          <p:cNvSpPr/>
          <p:nvPr/>
        </p:nvSpPr>
        <p:spPr>
          <a:xfrm>
            <a:off x="54864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Other selection methods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Some targets were hand-picked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a New Zealand retailer and a US photo printing company, a working admin password was handed to the AI with the instruction "start"</a:t>
            </a:r>
            <a:endParaRPr lang="en-US" sz="1400" dirty="0"/>
          </a:p>
        </p:txBody>
      </p:sp>
      <p:sp>
        <p:nvSpPr>
          <p:cNvPr id="25" name="select-implication"/>
          <p:cNvSpPr/>
          <p:nvPr/>
        </p:nvSpPr>
        <p:spPr>
          <a:xfrm>
            <a:off x="621792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Implications for defenders (this deck's synthesis)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your own custom-built parts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that admin passwords are not leaked or reused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 (Sept 22,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4: Card issuing countries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us-card"/>
          <p:cNvSpPr/>
          <p:nvPr/>
        </p:nvSpPr>
        <p:spPr>
          <a:xfrm>
            <a:off x="795528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838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United States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488,372 cards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79.0% of the 600K+ total</a:t>
            </a:r>
            <a:endParaRPr lang="en-US" sz="1400" dirty="0"/>
          </a:p>
        </p:txBody>
      </p:sp>
      <p:sp>
        <p:nvSpPr>
          <p:cNvPr id="8" name="country-note"/>
          <p:cNvSpPr/>
          <p:nvPr/>
        </p:nvSpPr>
        <p:spPr>
          <a:xfrm>
            <a:off x="7955280" y="3749040"/>
            <a:ext cx="36576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83880" y="39319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Cards came from two companies and span 200+ issuing countries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Gambit worked with fraud-prevention firm Overwatch Data to notify card issuers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 (Sept 22,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5: Data wiping and its side effects</a:t>
            </a:r>
            <a:endParaRPr lang="en-US" sz="3200" dirty="0"/>
          </a:p>
        </p:txBody>
      </p:sp>
      <p:sp>
        <p:nvSpPr>
          <p:cNvPr id="3" name="wipe-playbook"/>
          <p:cNvSpPr/>
          <p:nvPr/>
        </p:nvSpPr>
        <p:spPr>
          <a:xfrm>
            <a:off x="54864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wipe step in the attacker playbook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After extracting card data, wipe the original data columns in batches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Procedure assumes tables with millions of rows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Re-run a verification query after wiping to confirm zero rows remain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 practice, for two payment-related tables the instruction first said to blank the column, then changed to "copy out, then blank"</a:t>
            </a:r>
            <a:endParaRPr lang="en-US" sz="1200" dirty="0"/>
          </a:p>
        </p:txBody>
      </p:sp>
      <p:sp>
        <p:nvSpPr>
          <p:cNvPr id="6" name="wipe-accident"/>
          <p:cNvSpPr/>
          <p:nvPr/>
        </p:nvSpPr>
        <p:spPr>
          <a:xfrm>
            <a:off x="621792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Accident caused by AI cleanup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At a bicycle retailer, the agent created working tables starting with "ZQ"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During cleanup it dropped 180 tables whose names contained "ZQ" or "Backup"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Backup tables made by the administrator were lost too</a:t>
            </a:r>
            <a:endParaRPr lang="en-US" sz="1200" dirty="0"/>
          </a:p>
        </p:txBody>
      </p:sp>
      <p:sp>
        <p:nvSpPr>
          <p:cNvPr id="9" name="wipe-takeaway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loss can come from side effects of someone else's cleanup, not extortion. Keep backups isolated from production and rehearse recovery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 (Sept 22,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6: Statistics and Gambit's recommendation</a:t>
            </a:r>
            <a:endParaRPr lang="en-US" sz="3200" dirty="0"/>
          </a:p>
        </p:txBody>
      </p:sp>
      <p:sp>
        <p:nvSpPr>
          <p:cNvPr id="3" name="stat2-1"/>
          <p:cNvSpPr/>
          <p:nvPr/>
        </p:nvSpPr>
        <p:spPr>
          <a:xfrm>
            <a:off x="548640" y="137160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600+ per month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 vulnerabilities reported across major software vendors</a:t>
            </a:r>
            <a:endParaRPr lang="en-US" sz="1200" dirty="0"/>
          </a:p>
        </p:txBody>
      </p:sp>
      <p:sp>
        <p:nvSpPr>
          <p:cNvPr id="6" name="stat2-2"/>
          <p:cNvSpPr/>
          <p:nvPr/>
        </p:nvSpPr>
        <p:spPr>
          <a:xfrm>
            <a:off x="548640" y="288036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~87%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exploited flaws, share attacked on or before the day of disclosure</a:t>
            </a:r>
            <a:endParaRPr lang="en-US" sz="1200" dirty="0"/>
          </a:p>
        </p:txBody>
      </p:sp>
      <p:sp>
        <p:nvSpPr>
          <p:cNvPr id="9" name="stat2-3"/>
          <p:cNvSpPr/>
          <p:nvPr/>
        </p:nvSpPr>
        <p:spPr>
          <a:xfrm>
            <a:off x="548640" y="4389120"/>
            <a:ext cx="4754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Weeks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66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 to remediate in complex environments</a:t>
            </a:r>
            <a:endParaRPr lang="en-US" sz="1200" dirty="0"/>
          </a:p>
        </p:txBody>
      </p:sp>
      <p:sp>
        <p:nvSpPr>
          <p:cNvPr id="12" name="rec-card"/>
          <p:cNvSpPr/>
          <p:nvPr/>
        </p:nvSpPr>
        <p:spPr>
          <a:xfrm>
            <a:off x="5577840" y="1371600"/>
            <a:ext cx="6035040" cy="438912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Gambit's recommendation: measure recoverability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0574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Patch speed alone is not enough; measure how fast service can be restored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Define a "minimum viable business": the smallest set of systems needed to keep revenue flowing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Agree with app, infrastructure and vendor owners, and verify that set actually comes 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recovery plan that ends at "database restored" is not enough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Note: Gambit works in recovery and resilience, so its recommendation may reflect its position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report; statistics cited by Gambit from a16z material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Appendix 7: IOC list (indicators of compromise)</a:t>
            </a:r>
            <a:endParaRPr lang="en-US" sz="3200" dirty="0"/>
          </a:p>
        </p:txBody>
      </p:sp>
      <p:sp>
        <p:nvSpPr>
          <p:cNvPr id="3" name="ioc-ip"/>
          <p:cNvSpPr/>
          <p:nvPr/>
        </p:nvSpPr>
        <p:spPr>
          <a:xfrm>
            <a:off x="548640" y="13716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IP addresses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/ AI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155.254.22.215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exfil / HTTP listener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209.126.4.170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(remote control)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213.21.239.62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172.245.224.188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Skimmer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172.245.89.137</a:t>
            </a:r>
            <a:endParaRPr lang="en-US" sz="1100" dirty="0"/>
          </a:p>
        </p:txBody>
      </p:sp>
      <p:sp>
        <p:nvSpPr>
          <p:cNvPr id="6" name="ioc-domain"/>
          <p:cNvSpPr/>
          <p:nvPr/>
        </p:nvSpPr>
        <p:spPr>
          <a:xfrm>
            <a:off x="4023360" y="1371600"/>
            <a:ext cx="3566160" cy="36118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Domains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8745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/ C2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medbooksource[.]com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traffic-analyzer[.]net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Skimmer hosts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b8t[.]shop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js-static[.]com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jsnetlify[.]com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netlifyjs[.]com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newssjs[.]com</a:t>
            </a:r>
            <a:endParaRPr lang="en-US" sz="1100" dirty="0"/>
          </a:p>
        </p:txBody>
      </p:sp>
      <p:sp>
        <p:nvSpPr>
          <p:cNvPr id="9" name="ioc-url"/>
          <p:cNvSpPr/>
          <p:nvPr/>
        </p:nvSpPr>
        <p:spPr>
          <a:xfrm>
            <a:off x="7772400" y="1371600"/>
            <a:ext cx="384048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Skimmer URLs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87452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b8t[.]shop/js/sby.js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cdn[.]netlfjs[.]com/js/cts.js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cdn[.]netlfjs[.]com/js/vla.js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x1opay[.]co/js/eut.js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x1opay[.]co/js/l.js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static-js[.]com/js/bmws.js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static-js[.]com/js/nrt.js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cdn[.]js-static[.]com/js/tgo.js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cdn[.]js-static[.]com/js/pps.js</a:t>
            </a:r>
            <a:endParaRPr lang="en-US" sz="1100" dirty="0"/>
          </a:p>
        </p:txBody>
      </p:sp>
      <p:sp>
        <p:nvSpPr>
          <p:cNvPr id="12" name="ioc-method"/>
          <p:cNvSpPr/>
          <p:nvPr/>
        </p:nvSpPr>
        <p:spPr>
          <a:xfrm>
            <a:off x="548640" y="5120640"/>
            <a:ext cx="70408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1846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Injected code signature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589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Function(atob('&lt;random&gt;...'.slice(7)))()  base64 with 7 dummy chars prepended</a:t>
            </a:r>
            <a:endParaRPr lang="en-US" sz="1100" dirty="0"/>
          </a:p>
        </p:txBody>
      </p:sp>
      <p:sp>
        <p:nvSpPr>
          <p:cNvPr id="15" name="ioc-proxy"/>
          <p:cNvSpPr/>
          <p:nvPr/>
        </p:nvSpPr>
        <p:spPr>
          <a:xfrm>
            <a:off x="7772400" y="512064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5184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Proxy providers used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5458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IPRoyal / 711proxy / 1024proxy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Gambit Security original report. [.] is defanged notation. Do not visit; use only to match against logs and DNS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at Analysis EN">
  <a:themeElements>
    <a:clrScheme name="Threat Analysis EN">
      <a:dk1>
        <a:srgbClr val="1B1F23"/>
      </a:dk1>
      <a:lt1>
        <a:srgbClr val="FFFFFF"/>
      </a:lt1>
      <a:dk2>
        <a:srgbClr val="2B3A42"/>
      </a:dk2>
      <a:lt2>
        <a:srgbClr val="EEF1F2"/>
      </a:lt2>
      <a:accent1>
        <a:srgbClr val="C8431F"/>
      </a:accent1>
      <a:accent2>
        <a:srgbClr val="0F7F76"/>
      </a:accent2>
      <a:accent3>
        <a:srgbClr val="E0A030"/>
      </a:accent3>
      <a:accent4>
        <a:srgbClr val="5B6C75"/>
      </a:accent4>
      <a:accent5>
        <a:srgbClr val="7A9E9F"/>
      </a:accent5>
      <a:accent6>
        <a:srgbClr val="B5C0C5"/>
      </a:accent6>
      <a:hlink>
        <a:srgbClr val="0F7F76"/>
      </a:hlink>
      <a:folHlink>
        <a:srgbClr val="5B6C75"/>
      </a:folHlink>
    </a:clrScheme>
    <a:fontScheme name="Threat Analysis 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and Defense Against AI-Agent Attack Tools</dc:title>
  <dc:subject>PptxGenJS Presentation</dc:subject>
  <dc:creator>PptxGenJS</dc:creator>
  <cp:lastModifiedBy>PptxGenJS</cp:lastModifiedBy>
  <cp:revision>1</cp:revision>
  <dcterms:created xsi:type="dcterms:W3CDTF">2026-10-05T17:58:31Z</dcterms:created>
  <dcterms:modified xsi:type="dcterms:W3CDTF">2026-10-05T17:58:31Z</dcterms:modified>
</cp:coreProperties>
</file>